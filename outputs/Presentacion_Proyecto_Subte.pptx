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5fc6da4a2d4a3b" /><Relationship Type="http://schemas.openxmlformats.org/officeDocument/2006/relationships/extended-properties" Target="/docProps/app.xml" Id="R327a3789898e4248" /><Relationship Type="http://schemas.openxmlformats.org/officeDocument/2006/relationships/officeDocument" Target="/ppt/presentation.xml" Id="R404e198f623e41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f85f6c34884ad2"/>
  </p:sldMasterIdLst>
  <p:notesMasterIdLst>
    <p:notesMasterId xmlns:r="http://schemas.openxmlformats.org/officeDocument/2006/relationships" r:id="Re23f78ac9d3e4870"/>
  </p:notesMasterIdLst>
  <p:sldIdLst>
    <p:sldId xmlns:r="http://schemas.openxmlformats.org/officeDocument/2006/relationships" id="256" r:id="Rd2d81af3ffc6452c"/>
    <p:sldId xmlns:r="http://schemas.openxmlformats.org/officeDocument/2006/relationships" id="257" r:id="Rd52e2485ee5349cc"/>
    <p:sldId xmlns:r="http://schemas.openxmlformats.org/officeDocument/2006/relationships" id="258" r:id="R9ffd192625014b74"/>
    <p:sldId xmlns:r="http://schemas.openxmlformats.org/officeDocument/2006/relationships" id="259" r:id="Racd23aa89e2f4ee1"/>
    <p:sldId xmlns:r="http://schemas.openxmlformats.org/officeDocument/2006/relationships" id="260" r:id="R491ac6a6a78e48f1"/>
    <p:sldId xmlns:r="http://schemas.openxmlformats.org/officeDocument/2006/relationships" id="261" r:id="R4708d6cba7794468"/>
    <p:sldId xmlns:r="http://schemas.openxmlformats.org/officeDocument/2006/relationships" id="262" r:id="R7a1605cb3e184755"/>
    <p:sldId xmlns:r="http://schemas.openxmlformats.org/officeDocument/2006/relationships" id="263" r:id="R7e6a001af5d242e9"/>
    <p:sldId xmlns:r="http://schemas.openxmlformats.org/officeDocument/2006/relationships" id="264" r:id="Rf85a3d049c0a4040"/>
    <p:sldId xmlns:r="http://schemas.openxmlformats.org/officeDocument/2006/relationships" id="265" r:id="R246701775f89462d"/>
    <p:sldId xmlns:r="http://schemas.openxmlformats.org/officeDocument/2006/relationships" id="266" r:id="R3cbbaba34be94db6"/>
    <p:sldId xmlns:r="http://schemas.openxmlformats.org/officeDocument/2006/relationships" id="267" r:id="R92c0c284a2ba4173"/>
    <p:sldId xmlns:r="http://schemas.openxmlformats.org/officeDocument/2006/relationships" id="268" r:id="Re5391b3146c74867"/>
    <p:sldId xmlns:r="http://schemas.openxmlformats.org/officeDocument/2006/relationships" id="269" r:id="R6a0a3e7498af447e"/>
    <p:sldId xmlns:r="http://schemas.openxmlformats.org/officeDocument/2006/relationships" id="270" r:id="R38cc1a3d477d4f91"/>
    <p:sldId xmlns:r="http://schemas.openxmlformats.org/officeDocument/2006/relationships" id="271" r:id="Rc774f6b1596e4b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1bb9d5c68140f7" /><Relationship Type="http://schemas.openxmlformats.org/officeDocument/2006/relationships/slideMaster" Target="/ppt/slideMasters/slideMaster1.xml" Id="Rb6f85f6c34884ad2" /><Relationship Type="http://schemas.openxmlformats.org/officeDocument/2006/relationships/notesMaster" Target="/ppt/notesMasters/notesMaster1.xml" Id="Re23f78ac9d3e4870" /><Relationship Type="http://schemas.openxmlformats.org/officeDocument/2006/relationships/presProps" Target="/ppt/presProps.xml" Id="R865202df62974a28" /><Relationship Type="http://schemas.openxmlformats.org/officeDocument/2006/relationships/tableStyles" Target="/ppt/tableStyles.xml" Id="Ra430a2dd26a244e6" /><Relationship Type="http://schemas.openxmlformats.org/officeDocument/2006/relationships/slide" Target="/ppt/slides/slide1.xml" Id="Rd2d81af3ffc6452c" /><Relationship Type="http://schemas.openxmlformats.org/officeDocument/2006/relationships/slide" Target="/ppt/slides/slide2.xml" Id="Rd52e2485ee5349cc" /><Relationship Type="http://schemas.openxmlformats.org/officeDocument/2006/relationships/slide" Target="/ppt/slides/slide3.xml" Id="R9ffd192625014b74" /><Relationship Type="http://schemas.openxmlformats.org/officeDocument/2006/relationships/slide" Target="/ppt/slides/slide4.xml" Id="Racd23aa89e2f4ee1" /><Relationship Type="http://schemas.openxmlformats.org/officeDocument/2006/relationships/slide" Target="/ppt/slides/slide5.xml" Id="R491ac6a6a78e48f1" /><Relationship Type="http://schemas.openxmlformats.org/officeDocument/2006/relationships/slide" Target="/ppt/slides/slide6.xml" Id="R4708d6cba7794468" /><Relationship Type="http://schemas.openxmlformats.org/officeDocument/2006/relationships/slide" Target="/ppt/slides/slide7.xml" Id="R7a1605cb3e184755" /><Relationship Type="http://schemas.openxmlformats.org/officeDocument/2006/relationships/slide" Target="/ppt/slides/slide8.xml" Id="R7e6a001af5d242e9" /><Relationship Type="http://schemas.openxmlformats.org/officeDocument/2006/relationships/slide" Target="/ppt/slides/slide9.xml" Id="Rf85a3d049c0a4040" /><Relationship Type="http://schemas.openxmlformats.org/officeDocument/2006/relationships/slide" Target="/ppt/slides/slide10.xml" Id="R246701775f89462d" /><Relationship Type="http://schemas.openxmlformats.org/officeDocument/2006/relationships/slide" Target="/ppt/slides/slide11.xml" Id="R3cbbaba34be94db6" /><Relationship Type="http://schemas.openxmlformats.org/officeDocument/2006/relationships/slide" Target="/ppt/slides/slide12.xml" Id="R92c0c284a2ba4173" /><Relationship Type="http://schemas.openxmlformats.org/officeDocument/2006/relationships/slide" Target="/ppt/slides/slide13.xml" Id="Re5391b3146c74867" /><Relationship Type="http://schemas.openxmlformats.org/officeDocument/2006/relationships/slide" Target="/ppt/slides/slide14.xml" Id="R6a0a3e7498af447e" /><Relationship Type="http://schemas.openxmlformats.org/officeDocument/2006/relationships/slide" Target="/ppt/slides/slide15.xml" Id="R38cc1a3d477d4f91" /><Relationship Type="http://schemas.openxmlformats.org/officeDocument/2006/relationships/slide" Target="/ppt/slides/slide16.xml" Id="Rc774f6b1596e4b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2990a2f7f948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1f30e0d51d4cb1" /><Relationship Type="http://schemas.openxmlformats.org/officeDocument/2006/relationships/notesMaster" Target="/ppt/notesMasters/notesMaster1.xml" Id="Rea8340d09a5d42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04fa3d27d24e2b" /><Relationship Type="http://schemas.openxmlformats.org/officeDocument/2006/relationships/notesMaster" Target="/ppt/notesMasters/notesMaster1.xml" Id="R5d5967882d6d40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4a6241d7ac4c04" /><Relationship Type="http://schemas.openxmlformats.org/officeDocument/2006/relationships/notesMaster" Target="/ppt/notesMasters/notesMaster1.xml" Id="R03c733eb25a844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cc54823afd43ce" /><Relationship Type="http://schemas.openxmlformats.org/officeDocument/2006/relationships/notesMaster" Target="/ppt/notesMasters/notesMaster1.xml" Id="R3455305cecbd47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cfae60e58a4589" /><Relationship Type="http://schemas.openxmlformats.org/officeDocument/2006/relationships/notesMaster" Target="/ppt/notesMasters/notesMaster1.xml" Id="Rc6ec4716c54043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1c8dfbfd4d47c1" /><Relationship Type="http://schemas.openxmlformats.org/officeDocument/2006/relationships/notesMaster" Target="/ppt/notesMasters/notesMaster1.xml" Id="Rc2b3ea7b4fcd46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c1eb8ee25a4fb0" /><Relationship Type="http://schemas.openxmlformats.org/officeDocument/2006/relationships/notesMaster" Target="/ppt/notesMasters/notesMaster1.xml" Id="R90a24e0da4e74a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1cf3d79ce0468d" /><Relationship Type="http://schemas.openxmlformats.org/officeDocument/2006/relationships/notesMaster" Target="/ppt/notesMasters/notesMaster1.xml" Id="Rc96685db573e47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160ac690744fd7" /><Relationship Type="http://schemas.openxmlformats.org/officeDocument/2006/relationships/notesMaster" Target="/ppt/notesMasters/notesMaster1.xml" Id="R972de1bfa6334b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42c3bdc4584831" /><Relationship Type="http://schemas.openxmlformats.org/officeDocument/2006/relationships/notesMaster" Target="/ppt/notesMasters/notesMaster1.xml" Id="R95a98d4bd9ae41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7b7a58bbc74094" /><Relationship Type="http://schemas.openxmlformats.org/officeDocument/2006/relationships/notesMaster" Target="/ppt/notesMasters/notesMaster1.xml" Id="R69760419692f47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c1aa1d21ad4f0a" /><Relationship Type="http://schemas.openxmlformats.org/officeDocument/2006/relationships/notesMaster" Target="/ppt/notesMasters/notesMaster1.xml" Id="R5c4fe935987344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8a12679c8f40de" /><Relationship Type="http://schemas.openxmlformats.org/officeDocument/2006/relationships/notesMaster" Target="/ppt/notesMasters/notesMaster1.xml" Id="R27a497c1a14540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c2d74e82a44f7b" /><Relationship Type="http://schemas.openxmlformats.org/officeDocument/2006/relationships/notesMaster" Target="/ppt/notesMasters/notesMaster1.xml" Id="R030b2a0e6a8442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7d776affdc4f4b" /><Relationship Type="http://schemas.openxmlformats.org/officeDocument/2006/relationships/notesMaster" Target="/ppt/notesMasters/notesMaster1.xml" Id="Rb9f4969393d747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35caaaf12ff4602" /><Relationship Type="http://schemas.openxmlformats.org/officeDocument/2006/relationships/notesMaster" Target="/ppt/notesMasters/notesMaster1.xml" Id="R0d2861f4688d48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idea de que la demanda tiene una forma horaria y una geografía, no solo un total diario.</a:t>
            </a:r>
          </a:p>
          <a:p xmlns:a="http://schemas.openxmlformats.org/drawingml/2006/main">
            <a:r>
              <a:t>Anticipar que la presentación cubrirá el problema, los datos, el método, los resultados y la aplicación visual.</a:t>
            </a:r>
          </a:p>
          <a:p xmlns:a="http://schemas.openxmlformats.org/drawingml/2006/main">
            <a:r>
              <a:t>La identidad visual usa amarillo y negro como referencia cultural inmediata del Subte; los colores de línea se reservan para categorías y navegación.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Day1_3_Data_Visualization_Color.pdf, variables visuales y aspectos culturales del color</a:t>
            </a:r>
          </a:p>
          <a:p xmlns:a="http://schemas.openxmlformats.org/drawingml/2006/main">
            <a:r>
              <a:t>Contenido del proyecto: Presentacion_Proyecto_Subte_FPCA_2014_2026.pptx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diapositiva como transición breve.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subte_fpca_work/documentacion/generar_presentacion_proyecto.py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motivación es separar volumen, horario y geografía para evitar conclusiones basadas solo en totales.</a:t>
            </a:r>
          </a:p>
          <a:p xmlns:a="http://schemas.openxmlformats.org/drawingml/2006/main">
            <a:r>
              <a:t>La pregunta guía organiza las tareas del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subte_fpca_work/documentacion/generar_presentacion_proyecto.py, secciones 1 y 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Describir la unidad de observación y aclarar que 2026 es parcial.</a:t>
            </a:r>
          </a:p>
          <a:p xmlns:a="http://schemas.openxmlformats.org/drawingml/2006/main">
            <a:r>
              <a:t>Separar datos de origen y productos derivados.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subte_fpca_work/resultados/resumen_automatico.md</a:t>
            </a:r>
          </a:p>
          <a:p xmlns:a="http://schemas.openxmlformats.org/drawingml/2006/main">
            <a:r>
              <a:t>subte_fpca_work/resultados/resumen_capa_mapa_dashboard.csv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Nombrar la audiencia principal y las audiencias secundarias.</a:t>
            </a:r>
          </a:p>
          <a:p xmlns:a="http://schemas.openxmlformats.org/drawingml/2006/main">
            <a:r>
              <a:t>El contexto de uso es exploratorio, no control operativo en tiempo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subte_fpca_work/documentacion/generar_presentacion_proyecto.py, sección 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vistas se eligieron según la tarea: localizar, comparar formas, detectar presión y explicar cambios.</a:t>
            </a:r>
          </a:p>
          <a:p xmlns:a="http://schemas.openxmlformats.org/drawingml/2006/main">
            <a:r>
              <a:t>Posición codifica geografía y tiempo; tamaño codifica volumen absoluto; el tono identifica líneas o categorías.</a:t>
            </a:r>
          </a:p>
          <a:p xmlns:a="http://schemas.openxmlformats.org/drawingml/2006/main">
            <a:r>
              <a:t>Brillo, saturación e intensidad expresan magnitud o énfasis. La opacidad reduce el peso del contexto no seleccionado.</a:t>
            </a:r>
          </a:p>
          <a:p xmlns:a="http://schemas.openxmlformats.org/drawingml/2006/main">
            <a:r>
              <a:t>Forma, orientación y textura no codifican cantidades principales: se reservan para símbolos o redundancia accesible, evitando sobrecarga.</a:t>
            </a:r>
          </a:p>
          <a:p xmlns:a="http://schemas.openxmlformats.org/drawingml/2006/main">
            <a:r>
              <a:t>El amarillo y negro funcionan como referencia cultural del Subte, no como escala cuantitativa. Los colores complementarios se usan solo para contraste puntual.</a:t>
            </a:r>
          </a:p>
          <a:p xmlns:a="http://schemas.openxmlformats.org/drawingml/2006/main">
            <a:r>
              <a:t>Nunca se depende solo de rojo/verde: etiquetas, posición, tamaño y selección redundante sostienen la lectura ante deficiencias de visión cromática.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creacion_dashboard.ipynb, definición de vistas, escalas y callbacks</a:t>
            </a:r>
          </a:p>
          <a:p xmlns:a="http://schemas.openxmlformats.org/drawingml/2006/main">
            <a:r>
              <a:t>subte_fpca_work/documentacion/generar_presentacion_proyecto.py, secciones 5 y 6</a:t>
            </a:r>
          </a:p>
          <a:p xmlns:a="http://schemas.openxmlformats.org/drawingml/2006/main">
            <a:r>
              <a:t>Day1_3_Data_Visualization_Color.pdf, págs. 2, 18–20, 27–34 y 36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Transición hacia la parte metodológica.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Proyecto_Subte_FPCA_2014-26.ipynb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pipeline como una cadena de decisiones de comparabilidad.</a:t>
            </a:r>
          </a:p>
          <a:p xmlns:a="http://schemas.openxmlformats.org/drawingml/2006/main">
            <a:r>
              <a:t>No detenerse en código; resaltar por qué existe cada etapa.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Proyecto_Subte_FPCA_2014-26.ipynb, secciones 1–14</a:t>
            </a:r>
          </a:p>
          <a:p xmlns:a="http://schemas.openxmlformats.org/drawingml/2006/main">
            <a:r>
              <a:t>subte_fpca_work/resultados/resumen_automatico.md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la curva tiene 96 intervalos y que FPCA la resume en 2 o 3 componentes.</a:t>
            </a:r>
          </a:p>
          <a:p xmlns:a="http://schemas.openxmlformats.org/drawingml/2006/main">
            <a:r>
              <a:t>Los scores no se comparan entre segmentos porque cada tipo de día tiene su propio modelo.</a:t>
            </a:r>
          </a:p>
          <a:p xmlns:a="http://schemas.openxmlformats.org/drawingml/2006/main">
            <a:r>
              <a:t>La posición sobre los ejes transmite el patrón y la magnitud; el color funciona como apoyo, no como único canal de lectura.</a:t>
            </a:r>
          </a:p>
          <a:p xmlns:a="http://schemas.openxmlformats.org/drawingml/2006/main">
            <a:r>
              <a:t>La curva negra ofrece máximo contraste sobre fondo claro y la barra amarilla subraya el umbral explicado con la identidad del Subte.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subte_fpca_work/resultados/varianza_fpca_segmentada.csv</a:t>
            </a:r>
          </a:p>
          <a:p xmlns:a="http://schemas.openxmlformats.org/drawingml/2006/main">
            <a:r>
              <a:t>subte_fpca_work/resultados/resumen_modelos_segmentados.csv</a:t>
            </a:r>
          </a:p>
          <a:p xmlns:a="http://schemas.openxmlformats.org/drawingml/2006/main">
            <a:r>
              <a:t>subte_fpca_work/resultados/horarios_mayor_contribucion.csv</a:t>
            </a:r>
          </a:p>
          <a:p xmlns:a="http://schemas.openxmlformats.org/drawingml/2006/main">
            <a:r>
              <a:t>Day1_3_Data_Visualization_Color.pdf, variables ordenadas: posición, tamaño y valor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Transición hacia resultados.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subte_fpca_work/resultados/resumen_automatico.md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la expansión hasta 2019, la ruptura de 2020–2021 y la recuperación posterior.</a:t>
            </a:r>
          </a:p>
          <a:p xmlns:a="http://schemas.openxmlformats.org/drawingml/2006/main">
            <a:r>
              <a:t>Aclarar que la mediana de red da contexto general y que 2026 es parcial.</a:t>
            </a:r>
          </a:p>
          <a:p xmlns:a="http://schemas.openxmlformats.org/drawingml/2006/main">
            <a:r>
              <a:t>La serie principal se mantiene negra para continuidad. El rojo señala la ruptura pandémica y el amarillo el año parcial: ambos colores se acompañan con año y etiqueta.</a:t>
            </a:r>
          </a:p>
          <a:p xmlns:a="http://schemas.openxmlformats.org/drawingml/2006/main">
            <a:r>
              <a:t>Esta redundancia evita que la interpretación dependa solamente del contraste cromático rojo-verde.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subte_fpca_work/resultados/serie_diaria_red.csv</a:t>
            </a:r>
          </a:p>
          <a:p xmlns:a="http://schemas.openxmlformats.org/drawingml/2006/main">
            <a:r>
              <a:t>subte_fpca_work/resultados/cobertura_temporal_anios.csv</a:t>
            </a:r>
          </a:p>
          <a:p xmlns:a="http://schemas.openxmlformats.org/drawingml/2006/main">
            <a:r>
              <a:t>Day1_3_Data_Visualization_Color.pdf, espacios oponentes y accesibilidad cromática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los clusters describen formas, no tamaños de estación.</a:t>
            </a:r>
          </a:p>
          <a:p xmlns:a="http://schemas.openxmlformats.org/drawingml/2006/main">
            <a:r>
              <a:t>La estructura del sábado es más continua y tiene una silhouette más moderada.</a:t>
            </a:r>
          </a:p>
          <a:p xmlns:a="http://schemas.openxmlformats.org/drawingml/2006/main">
            <a:r>
              <a:t>Los perfiles combinan tono con marcas distintas para que cada cluster siga siendo identificable sin depender solo del color.</a:t>
            </a:r>
          </a:p>
          <a:p xmlns:a="http://schemas.openxmlformats.org/drawingml/2006/main">
            <a:r>
              <a:t>El amarillo se usa como acento dominante y el cian como contraste frío; el negro sostiene jerarquía y legibilidad.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subte_fpca_work/resultados/caracterizacion_clusters.csv</a:t>
            </a:r>
          </a:p>
          <a:p xmlns:a="http://schemas.openxmlformats.org/drawingml/2006/main">
            <a:r>
              <a:t>subte_fpca_work/resultados/perfiles_suavizados_segmentados.csv</a:t>
            </a:r>
          </a:p>
          <a:p xmlns:a="http://schemas.openxmlformats.org/drawingml/2006/main">
            <a:r>
              <a:t>subte_fpca_work/resultados/resumen_modelos_segmentados.csv</a:t>
            </a:r>
          </a:p>
          <a:p xmlns:a="http://schemas.openxmlformats.org/drawingml/2006/main">
            <a:r>
              <a:t>Day1_3_Data_Visualization_Color.pdf, armonías, complementarios y redundancia visual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distancia en scores mide cambio de forma dentro del mismo segmento.</a:t>
            </a:r>
          </a:p>
          <a:p xmlns:a="http://schemas.openxmlformats.org/drawingml/2006/main">
            <a:r>
              <a:t>General San Martín conserva el cluster laborable, pero se mueve más que cualquier otra estación entre 2019 y 2025.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subte_fpca_work/resultados/cambios_2019_2025_por_segmento.csv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MaxVol selecciona perfiles extremos y observados, no centroides ni clusters nuevos.</a:t>
            </a:r>
          </a:p>
          <a:p xmlns:a="http://schemas.openxmlformats.org/drawingml/2006/main">
            <a:r>
              <a:t>Los años pandémicos o parciales requieren contexto adicional.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subte_fpca_work/resultados/prototipos_maxvol.csv</a:t>
            </a:r>
          </a:p>
          <a:p xmlns:a="http://schemas.openxmlformats.org/drawingml/2006/main">
            <a:r>
              <a:t>subte_fpca_work/resultados/interpretacion_clusters_maxvol.md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linking and brushing con ejemplos de acciones del usuario.</a:t>
            </a:r>
          </a:p>
          <a:p xmlns:a="http://schemas.openxmlformats.org/drawingml/2006/main">
            <a:r>
              <a:t>La selección persistente usa la estación como clave y combina selecciones por intersección.</a:t>
            </a:r>
          </a:p>
          <a:p xmlns:a="http://schemas.openxmlformats.org/drawingml/2006/main">
            <a:r>
              <a:t>La opacidad disminuye el peso del contexto no seleccionado; el tono y el contorno mantienen visibles las estaciones activas.</a:t>
            </a:r>
          </a:p>
          <a:p xmlns:a="http://schemas.openxmlformats.org/drawingml/2006/main">
            <a:r>
              <a:t>El diseño conserva color, posición y etiquetas como señales redundantes para reforzar el mensaje.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creacion_dashboard.ipynb, GRAFICOS_VINCULADOS y callbacks</a:t>
            </a:r>
          </a:p>
          <a:p xmlns:a="http://schemas.openxmlformats.org/drawingml/2006/main">
            <a:r>
              <a:t>subte_fpca_work/documentacion/actualizar_bitacora.py, secciones 6.5–6.6</a:t>
            </a:r>
          </a:p>
          <a:p xmlns:a="http://schemas.openxmlformats.org/drawingml/2006/main">
            <a:r>
              <a:t>Day1_3_Data_Visualization_Color.pdf, valor, saturación, brillo y percepción selectiva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respondiendo la pregunta guía.</a:t>
            </a:r>
          </a:p>
          <a:p xmlns:a="http://schemas.openxmlformats.org/drawingml/2006/main">
            <a:r>
              <a:t>Distinguir hallazgos, contribución visual y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subte_fpca_work/resultados/resumen_automatico.md</a:t>
            </a:r>
          </a:p>
          <a:p xmlns:a="http://schemas.openxmlformats.org/drawingml/2006/main">
            <a:r>
              <a:t>subte_fpca_work/documentacion/generar_presentacion_proyecto.py, secciones 7–9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cf45cd565b40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67f1112b940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f33291cc048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40707026c40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4bb94d08047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35014336f48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32C2F7D-E034-41B7-BBDF-0D082EDA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52F7548-95E3-4A52-B231-7C1C33D23F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AA4CCDB-AAA8-4B85-8D6A-52D3262B81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CBA800D-761C-49A1-B05D-073F41C6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3F2868-EF03-4683-BCF0-DB9AA6009D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C400546-CDA1-470B-8942-0C84BE69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D5A53C-6C53-4433-ADE8-5273BD4C89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9FFA3EB-1A02-432D-9906-A6B159FC7E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8A40A0C-6B52-4685-9F50-DF1C93D7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D3C5FE-BFBC-4893-A2AA-7B460647DD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722436-B91E-49DC-843C-5C4EE305A6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A9A895D-DBCE-4D71-8940-8F7E0767F9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75C214C-2952-48DF-91AD-70EDCAB5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B57520-FF98-435B-A80F-792E648DAE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B5F8F2-6FA2-4C66-BA77-EB9B08A5E0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6754882e0a44df" /><Relationship Type="http://schemas.openxmlformats.org/officeDocument/2006/relationships/slideLayout" Target="/ppt/slideLayouts/slideLayout1.xml" Id="R4b7b426d56084f8f" /><Relationship Type="http://schemas.openxmlformats.org/officeDocument/2006/relationships/slideLayout" Target="/ppt/slideLayouts/slideLayout2.xml" Id="Rbf89247a5f964de6" /><Relationship Type="http://schemas.openxmlformats.org/officeDocument/2006/relationships/slideLayout" Target="/ppt/slideLayouts/slideLayout3.xml" Id="R5a3601b523ed4269" /><Relationship Type="http://schemas.openxmlformats.org/officeDocument/2006/relationships/slideLayout" Target="/ppt/slideLayouts/slideLayout4.xml" Id="Rfb595235131a4efd" /><Relationship Type="http://schemas.openxmlformats.org/officeDocument/2006/relationships/slideLayout" Target="/ppt/slideLayouts/slideLayout5.xml" Id="Rfa5346b286b24ad9" /><Relationship Type="http://schemas.openxmlformats.org/officeDocument/2006/relationships/slideLayout" Target="/ppt/slideLayouts/slideLayout6.xml" Id="R3fa2e8a4653444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7b426d56084f8f"/>
    <p:sldLayoutId xmlns:r="http://schemas.openxmlformats.org/officeDocument/2006/relationships" id="2147483650" r:id="Rbf89247a5f964de6"/>
    <p:sldLayoutId xmlns:r="http://schemas.openxmlformats.org/officeDocument/2006/relationships" id="2147483651" r:id="R5a3601b523ed4269"/>
    <p:sldLayoutId xmlns:r="http://schemas.openxmlformats.org/officeDocument/2006/relationships" id="2147483652" r:id="Rfb595235131a4efd"/>
    <p:sldLayoutId xmlns:r="http://schemas.openxmlformats.org/officeDocument/2006/relationships" id="2147483653" r:id="Rfa5346b286b24ad9"/>
    <p:sldLayoutId xmlns:r="http://schemas.openxmlformats.org/officeDocument/2006/relationships" id="2147483654" r:id="R3fa2e8a4653444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8881e3806e4231" /><Relationship Type="http://schemas.openxmlformats.org/officeDocument/2006/relationships/image" Target="/ppt/media/image.png" Id="Rc01d8c3526164702" /><Relationship Type="http://schemas.openxmlformats.org/officeDocument/2006/relationships/image" Target="/ppt/media/image2.png" Id="Rc45dfa0a4e2d4311" /><Relationship Type="http://schemas.openxmlformats.org/officeDocument/2006/relationships/image" Target="/ppt/media/image3.png" Id="R50506aa7cc904e32" /><Relationship Type="http://schemas.openxmlformats.org/officeDocument/2006/relationships/image" Target="/ppt/media/image4.png" Id="Rcfa6430834994cf8" /><Relationship Type="http://schemas.openxmlformats.org/officeDocument/2006/relationships/notesSlide" Target="/ppt/notesSlides/notesSlide1.xml" Id="R17c4291bad4347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63a9137cf34dbe" /><Relationship Type="http://schemas.openxmlformats.org/officeDocument/2006/relationships/image" Target="/ppt/media/image5.png" Id="R76ac57b10c6648b7" /><Relationship Type="http://schemas.openxmlformats.org/officeDocument/2006/relationships/image" Target="/ppt/media/image6.png" Id="R81ae64d4c2fd4a23" /><Relationship Type="http://schemas.openxmlformats.org/officeDocument/2006/relationships/notesSlide" Target="/ppt/notesSlides/notesSlide2.xml" Id="R3b2887bb81b047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06cd338068430c" /><Relationship Type="http://schemas.openxmlformats.org/officeDocument/2006/relationships/image" Target="/ppt/media/image7.png" Id="Rd348ca0980514464" /><Relationship Type="http://schemas.openxmlformats.org/officeDocument/2006/relationships/notesSlide" Target="/ppt/notesSlides/notesSlide3.xml" Id="R312a1f7a45294a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a7574525494f92" /><Relationship Type="http://schemas.openxmlformats.org/officeDocument/2006/relationships/image" Target="/ppt/media/image8.png" Id="R98afa5f713e445cb" /><Relationship Type="http://schemas.openxmlformats.org/officeDocument/2006/relationships/notesSlide" Target="/ppt/notesSlides/notesSlide4.xml" Id="R9624cd0bec6d4e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f7c13f631d4c7e" /><Relationship Type="http://schemas.openxmlformats.org/officeDocument/2006/relationships/image" Target="/ppt/media/image9.png" Id="R7ee67f5ebfbe4daa" /><Relationship Type="http://schemas.openxmlformats.org/officeDocument/2006/relationships/notesSlide" Target="/ppt/notesSlides/notesSlide5.xml" Id="R3433dc29b1f844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91512e2fe04433" /><Relationship Type="http://schemas.openxmlformats.org/officeDocument/2006/relationships/image" Target="/ppt/media/image10.png" Id="R324dd6b788ed44b9" /><Relationship Type="http://schemas.openxmlformats.org/officeDocument/2006/relationships/notesSlide" Target="/ppt/notesSlides/notesSlide6.xml" Id="R534faa119db446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cea6b14c054ad0" /><Relationship Type="http://schemas.openxmlformats.org/officeDocument/2006/relationships/image" Target="/ppt/media/image11.png" Id="R0b7addecd6304018" /><Relationship Type="http://schemas.openxmlformats.org/officeDocument/2006/relationships/image" Target="/ppt/media/image12.png" Id="R0668de5755b64ab4" /><Relationship Type="http://schemas.openxmlformats.org/officeDocument/2006/relationships/notesSlide" Target="/ppt/notesSlides/notesSlide7.xml" Id="Rda34236016114c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d35716ec24cd2" /><Relationship Type="http://schemas.openxmlformats.org/officeDocument/2006/relationships/image" Target="/ppt/media/image13.png" Id="R7001df5d6acd48f5" /><Relationship Type="http://schemas.openxmlformats.org/officeDocument/2006/relationships/notesSlide" Target="/ppt/notesSlides/notesSlide8.xml" Id="R4a131739eba74b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ec525db98d4d3a" /><Relationship Type="http://schemas.openxmlformats.org/officeDocument/2006/relationships/image" Target="/ppt/media/image14.png" Id="R0df2dc4bdb6f4a76" /><Relationship Type="http://schemas.openxmlformats.org/officeDocument/2006/relationships/chart" Target="/ppt/slides/charts/chart1.xml" Id="R92b1cb37f6d740f0" /><Relationship Type="http://schemas.openxmlformats.org/officeDocument/2006/relationships/chart" Target="/ppt/slides/charts/chart2.xml" Id="Rda36ce8ebba245c8" /><Relationship Type="http://schemas.openxmlformats.org/officeDocument/2006/relationships/notesSlide" Target="/ppt/notesSlides/notesSlide9.xml" Id="R324666613c594c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42c5a24cf441d4" /><Relationship Type="http://schemas.openxmlformats.org/officeDocument/2006/relationships/image" Target="/ppt/media/image15.png" Id="Rae27c48709eb433c" /><Relationship Type="http://schemas.openxmlformats.org/officeDocument/2006/relationships/image" Target="/ppt/media/image16.png" Id="Rb5e689ee496144d2" /><Relationship Type="http://schemas.openxmlformats.org/officeDocument/2006/relationships/notesSlide" Target="/ppt/notesSlides/notesSlide10.xml" Id="Rfbb44a382e7d40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8acfe79a81401c" /><Relationship Type="http://schemas.openxmlformats.org/officeDocument/2006/relationships/image" Target="/ppt/media/image17.png" Id="Rfa2182110cbd49b2" /><Relationship Type="http://schemas.openxmlformats.org/officeDocument/2006/relationships/chart" Target="/ppt/slides/charts/chart3.xml" Id="R1b24eaf189764a0e" /><Relationship Type="http://schemas.openxmlformats.org/officeDocument/2006/relationships/notesSlide" Target="/ppt/notesSlides/notesSlide11.xml" Id="Raa0cfab30d844f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194172a4a54906" /><Relationship Type="http://schemas.openxmlformats.org/officeDocument/2006/relationships/image" Target="/ppt/media/image18.png" Id="R29ec1b79b3444c95" /><Relationship Type="http://schemas.openxmlformats.org/officeDocument/2006/relationships/chart" Target="/ppt/slides/charts/chart4.xml" Id="R95131d46837a4c63" /><Relationship Type="http://schemas.openxmlformats.org/officeDocument/2006/relationships/chart" Target="/ppt/slides/charts/chart5.xml" Id="R6a5ed2a46e234477" /><Relationship Type="http://schemas.openxmlformats.org/officeDocument/2006/relationships/chart" Target="/ppt/slides/charts/chart6.xml" Id="R2498347c00f749e6" /><Relationship Type="http://schemas.openxmlformats.org/officeDocument/2006/relationships/notesSlide" Target="/ppt/notesSlides/notesSlide12.xml" Id="Raec9e88981a24d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d23a664a7a4c60" /><Relationship Type="http://schemas.openxmlformats.org/officeDocument/2006/relationships/image" Target="/ppt/media/image19.png" Id="R958454f7a4b04919" /><Relationship Type="http://schemas.openxmlformats.org/officeDocument/2006/relationships/notesSlide" Target="/ppt/notesSlides/notesSlide13.xml" Id="R54ae8787386a46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5a9a4c8e454ad6" /><Relationship Type="http://schemas.openxmlformats.org/officeDocument/2006/relationships/image" Target="/ppt/media/image20.png" Id="Re843b886da6e4768" /><Relationship Type="http://schemas.openxmlformats.org/officeDocument/2006/relationships/notesSlide" Target="/ppt/notesSlides/notesSlide14.xml" Id="Re94deb3b6c0642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d740305e8d43ea" /><Relationship Type="http://schemas.openxmlformats.org/officeDocument/2006/relationships/image" Target="/ppt/media/image21.png" Id="Ra50e9bee5981454d" /><Relationship Type="http://schemas.openxmlformats.org/officeDocument/2006/relationships/notesSlide" Target="/ppt/notesSlides/notesSlide15.xml" Id="R442ff72067f84b3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fa79b7b7e14e57" /><Relationship Type="http://schemas.openxmlformats.org/officeDocument/2006/relationships/image" Target="/ppt/media/image22.png" Id="Rf817cee8ca5b473a" /><Relationship Type="http://schemas.openxmlformats.org/officeDocument/2006/relationships/notesSlide" Target="/ppt/notesSlides/notesSlide16.xml" Id="R4a908ea743b9427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Curva diaria normalizada · LAB-C1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11111"/>
              </a:solidFill>
              <a:latin typeface="Arial Black"/>
              <a:ea typeface="Arial Black"/>
              <a:cs typeface="Arial Black"/>
            </a:defRPr>
          </a:pPr>
        </a:p>
      </c:txPr>
    </c:title>
    <c:plotArea>
      <c:lineChart>
        <c:grouping val="standard"/>
        <c:ser>
          <c:idx val="0"/>
          <c:order val="0"/>
          <c:tx>
            <c:v>Participación por hora</c:v>
          </c:tx>
          <c:spPr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none"/>
          </c:marker>
          <c:cat>
            <c:numRef>
              <c:f>'Chart Data'!$A$2:$A$20</c:f>
              <c:numCache>
                <c:formatCode>General</c:formatCode>
                <c:ptCount val="19"/>
                <c:pt idx="0">
                  <c:v>05</c:v>
                </c:pt>
                <c:pt idx="1">
                  <c:v>06</c:v>
                </c:pt>
                <c:pt idx="2">
                  <c:v>07</c:v>
                </c:pt>
                <c:pt idx="3">
                  <c:v>08</c:v>
                </c:pt>
                <c:pt idx="4">
                  <c:v>09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</c:numCache>
            </c:numRef>
          </c:cat>
          <c:val>
            <c:numRef>
              <c:f>'Chart Data'!$B$2:$B$20</c:f>
              <c:numCache>
                <c:formatCode>General</c:formatCode>
                <c:ptCount val="19"/>
                <c:pt idx="0">
                  <c:v>0</c:v>
                </c:pt>
                <c:pt idx="1">
                  <c:v>0.391096</c:v>
                </c:pt>
                <c:pt idx="2">
                  <c:v>1.511343</c:v>
                </c:pt>
                <c:pt idx="3">
                  <c:v>2.532763</c:v>
                </c:pt>
                <c:pt idx="4">
                  <c:v>2.544037</c:v>
                </c:pt>
                <c:pt idx="5">
                  <c:v>1.717494</c:v>
                </c:pt>
                <c:pt idx="6">
                  <c:v>1.421876</c:v>
                </c:pt>
                <c:pt idx="7">
                  <c:v>1.579592</c:v>
                </c:pt>
                <c:pt idx="8">
                  <c:v>1.669449</c:v>
                </c:pt>
                <c:pt idx="9">
                  <c:v>1.490717</c:v>
                </c:pt>
                <c:pt idx="10">
                  <c:v>1.391993</c:v>
                </c:pt>
                <c:pt idx="11">
                  <c:v>1.587144</c:v>
                </c:pt>
                <c:pt idx="12">
                  <c:v>1.861075</c:v>
                </c:pt>
                <c:pt idx="13">
                  <c:v>1.777508</c:v>
                </c:pt>
                <c:pt idx="14">
                  <c:v>1.279431</c:v>
                </c:pt>
                <c:pt idx="15">
                  <c:v>0.785791</c:v>
                </c:pt>
                <c:pt idx="16">
                  <c:v>0.56407</c:v>
                </c:pt>
                <c:pt idx="17">
                  <c:v>0.263204</c:v>
                </c:pt>
                <c:pt idx="18">
                  <c:v>0.047807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C9C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Varianza acumulada al alcanzar el umbral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11111"/>
              </a:solidFill>
              <a:latin typeface="Arial Black"/>
              <a:ea typeface="Arial Black"/>
              <a:cs typeface="Arial Black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Varianza acumulada</c:v>
          </c:tx>
          <c:spPr>
            <a:solidFill xmlns:a="http://schemas.openxmlformats.org/drawingml/2006/main">
              <a:srgbClr val="FFD400"/>
            </a:solidFill>
          </c:spPr>
          <c:cat>
            <c:strRef>
              <c:f>'Chart Data'!$A$2:$A$4</c:f>
              <c:strCache>
                <c:ptCount val="3"/>
                <c:pt idx="0">
                  <c:v>Laborable</c:v>
                </c:pt>
                <c:pt idx="1">
                  <c:v>Sábado</c:v>
                </c:pt>
                <c:pt idx="2">
                  <c:v>Domingo/feriado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0.902127</c:v>
                </c:pt>
                <c:pt idx="1">
                  <c:v>0.907105</c:v>
                </c:pt>
                <c:pt idx="2">
                  <c:v>0.918121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4E1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C9C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Evolución anual de la mediana diaria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11111"/>
              </a:solidFill>
              <a:latin typeface="Arial Black"/>
              <a:ea typeface="Arial Black"/>
              <a:cs typeface="Arial Black"/>
            </a:defRPr>
          </a:pPr>
        </a:p>
      </c:txPr>
    </c:title>
    <c:plotArea>
      <c:lineChart>
        <c:grouping val="standard"/>
        <c:ser>
          <c:idx val="0"/>
          <c:order val="0"/>
          <c:tx>
            <c:v>Millones de validaciones</c:v>
          </c:tx>
          <c:spPr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</c:marker>
          <c:dPt>
            <c:idx val="6"/>
            <c:spPr>
              <a:solidFill xmlns:a="http://schemas.openxmlformats.org/drawingml/2006/main">
                <a:srgbClr val="DC2626"/>
              </a:solidFill>
            </c:spPr>
          </c:dPt>
          <c:dPt>
            <c:idx val="7"/>
            <c:spPr>
              <a:solidFill xmlns:a="http://schemas.openxmlformats.org/drawingml/2006/main">
                <a:srgbClr val="DC2626"/>
              </a:solidFill>
            </c:spPr>
          </c:dPt>
          <c:dPt>
            <c:idx val="12"/>
            <c:spPr>
              <a:solidFill xmlns:a="http://schemas.openxmlformats.org/drawingml/2006/main">
                <a:srgbClr val="FFD400"/>
              </a:solidFill>
            </c:spPr>
          </c:dPt>
          <c:cat>
            <c:numRef>
              <c:f>'Chart Data'!$A$2:$A$14</c:f>
              <c:numCache>
                <c:formatCode>General</c:formatCode>
                <c:ptCount val="1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</c:v>
                </c:pt>
                <c:pt idx="12">
                  <c:v>2026</c:v>
                </c:pt>
              </c:numCache>
            </c:numRef>
          </c:cat>
          <c:val>
            <c:numRef>
              <c:f>'Chart Data'!$B$2:$B$14</c:f>
              <c:numCache>
                <c:formatCode>0.0" M"</c:formatCode>
                <c:ptCount val="13"/>
                <c:pt idx="0">
                  <c:v>0.887022</c:v>
                </c:pt>
                <c:pt idx="1">
                  <c:v>0.988216</c:v>
                </c:pt>
                <c:pt idx="2">
                  <c:v>1.06652</c:v>
                </c:pt>
                <c:pt idx="3">
                  <c:v>1.143302</c:v>
                </c:pt>
                <c:pt idx="4">
                  <c:v>1.18353</c:v>
                </c:pt>
                <c:pt idx="5">
                  <c:v>1.186703</c:v>
                </c:pt>
                <c:pt idx="6">
                  <c:v>0.067188</c:v>
                </c:pt>
                <c:pt idx="7">
                  <c:v>0.220091</c:v>
                </c:pt>
                <c:pt idx="8">
                  <c:v>0.757634</c:v>
                </c:pt>
                <c:pt idx="9">
                  <c:v>0.810469</c:v>
                </c:pt>
                <c:pt idx="10">
                  <c:v>0.6481</c:v>
                </c:pt>
                <c:pt idx="11">
                  <c:v>0.604034</c:v>
                </c:pt>
                <c:pt idx="12">
                  <c:v>0.574675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C9C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4E1"/>
              </a:solidFill>
              <a:prstDash val="solid"/>
            </a:ln>
          </c:spPr>
        </c:majorGridlines>
        <c:numFmt formatCode="0.0&quot; 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Laborable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11111"/>
              </a:solidFill>
              <a:latin typeface="Arial Black"/>
              <a:ea typeface="Arial Black"/>
              <a:cs typeface="Arial Black"/>
            </a:defRPr>
          </a:pPr>
        </a:p>
      </c:txPr>
    </c:title>
    <c:plotArea>
      <c:lineChart>
        <c:grouping val="standard"/>
        <c:ser>
          <c:idx val="0"/>
          <c:order val="0"/>
          <c:tx>
            <c:v>LAB-C1</c:v>
          </c:tx>
          <c:spPr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4"/>
          </c:marker>
          <c:cat>
            <c:numRef>
              <c:f>'Chart Data'!$A$2:$A$20</c:f>
              <c:numCache>
                <c:formatCode>General</c:formatCode>
                <c:ptCount val="19"/>
                <c:pt idx="0">
                  <c:v>05</c:v>
                </c:pt>
                <c:pt idx="1">
                  <c:v>06</c:v>
                </c:pt>
                <c:pt idx="2">
                  <c:v>07</c:v>
                </c:pt>
                <c:pt idx="3">
                  <c:v>08</c:v>
                </c:pt>
                <c:pt idx="4">
                  <c:v>09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</c:numCache>
            </c:numRef>
          </c:cat>
          <c:val>
            <c:numRef>
              <c:f>'Chart Data'!$B$2:$B$20</c:f>
              <c:numCache>
                <c:formatCode>General</c:formatCode>
                <c:ptCount val="19"/>
                <c:pt idx="0">
                  <c:v>0</c:v>
                </c:pt>
                <c:pt idx="1">
                  <c:v>0.391096</c:v>
                </c:pt>
                <c:pt idx="2">
                  <c:v>1.511343</c:v>
                </c:pt>
                <c:pt idx="3">
                  <c:v>2.532763</c:v>
                </c:pt>
                <c:pt idx="4">
                  <c:v>2.544037</c:v>
                </c:pt>
                <c:pt idx="5">
                  <c:v>1.717494</c:v>
                </c:pt>
                <c:pt idx="6">
                  <c:v>1.421876</c:v>
                </c:pt>
                <c:pt idx="7">
                  <c:v>1.579592</c:v>
                </c:pt>
                <c:pt idx="8">
                  <c:v>1.669449</c:v>
                </c:pt>
                <c:pt idx="9">
                  <c:v>1.490717</c:v>
                </c:pt>
                <c:pt idx="10">
                  <c:v>1.391993</c:v>
                </c:pt>
                <c:pt idx="11">
                  <c:v>1.587144</c:v>
                </c:pt>
                <c:pt idx="12">
                  <c:v>1.861075</c:v>
                </c:pt>
                <c:pt idx="13">
                  <c:v>1.777508</c:v>
                </c:pt>
                <c:pt idx="14">
                  <c:v>1.279431</c:v>
                </c:pt>
                <c:pt idx="15">
                  <c:v>0.785791</c:v>
                </c:pt>
                <c:pt idx="16">
                  <c:v>0.56407</c:v>
                </c:pt>
                <c:pt idx="17">
                  <c:v>0.263204</c:v>
                </c:pt>
                <c:pt idx="18">
                  <c:v>0.047807</c:v>
                </c:pt>
              </c:numCache>
            </c:numRef>
          </c:val>
        </c:ser>
        <c:ser>
          <c:idx val="1"/>
          <c:order val="1"/>
          <c:tx>
            <c:v>LAB-C2</c:v>
          </c:tx>
          <c:spPr>
            <a:ln xmlns:a="http://schemas.openxmlformats.org/drawingml/2006/main" w="28575">
              <a:solidFill>
                <a:srgbClr val="FFD400"/>
              </a:solidFill>
              <a:prstDash val="solid"/>
            </a:ln>
          </c:spPr>
          <c:marker>
            <c:symbol val="square"/>
            <c:size val="4"/>
          </c:marker>
          <c:cat>
            <c:numRef>
              <c:f>'Chart Data'!$C$2:$C$20</c:f>
              <c:numCache>
                <c:formatCode>General</c:formatCode>
                <c:ptCount val="19"/>
                <c:pt idx="0">
                  <c:v>05</c:v>
                </c:pt>
                <c:pt idx="1">
                  <c:v>06</c:v>
                </c:pt>
                <c:pt idx="2">
                  <c:v>07</c:v>
                </c:pt>
                <c:pt idx="3">
                  <c:v>08</c:v>
                </c:pt>
                <c:pt idx="4">
                  <c:v>09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</c:numCache>
            </c:numRef>
          </c:cat>
          <c:val>
            <c:numRef>
              <c:f>'Chart Data'!$D$2:$D$20</c:f>
              <c:numCache>
                <c:formatCode>General</c:formatCode>
                <c:ptCount val="19"/>
                <c:pt idx="0">
                  <c:v>0.004062</c:v>
                </c:pt>
                <c:pt idx="1">
                  <c:v>0.148321</c:v>
                </c:pt>
                <c:pt idx="2">
                  <c:v>0.514767</c:v>
                </c:pt>
                <c:pt idx="3">
                  <c:v>0.862943</c:v>
                </c:pt>
                <c:pt idx="4">
                  <c:v>0.986698</c:v>
                </c:pt>
                <c:pt idx="5">
                  <c:v>1.04907</c:v>
                </c:pt>
                <c:pt idx="6">
                  <c:v>1.237436</c:v>
                </c:pt>
                <c:pt idx="7">
                  <c:v>1.520457</c:v>
                </c:pt>
                <c:pt idx="8">
                  <c:v>1.702325</c:v>
                </c:pt>
                <c:pt idx="9">
                  <c:v>1.823246</c:v>
                </c:pt>
                <c:pt idx="10">
                  <c:v>2.021208</c:v>
                </c:pt>
                <c:pt idx="11">
                  <c:v>2.391586</c:v>
                </c:pt>
                <c:pt idx="12">
                  <c:v>2.837863</c:v>
                </c:pt>
                <c:pt idx="13">
                  <c:v>2.803765</c:v>
                </c:pt>
                <c:pt idx="14">
                  <c:v>1.929132</c:v>
                </c:pt>
                <c:pt idx="15">
                  <c:v>1.06696</c:v>
                </c:pt>
                <c:pt idx="16">
                  <c:v>0.782728</c:v>
                </c:pt>
                <c:pt idx="17">
                  <c:v>0.380829</c:v>
                </c:pt>
                <c:pt idx="18">
                  <c:v>0.070958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C9C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111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Sábado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11111"/>
              </a:solidFill>
              <a:latin typeface="Arial Black"/>
              <a:ea typeface="Arial Black"/>
              <a:cs typeface="Arial Black"/>
            </a:defRPr>
          </a:pPr>
        </a:p>
      </c:txPr>
    </c:title>
    <c:plotArea>
      <c:lineChart>
        <c:grouping val="standard"/>
        <c:ser>
          <c:idx val="0"/>
          <c:order val="0"/>
          <c:tx>
            <c:v>SAB-C1</c:v>
          </c:tx>
          <c:spPr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4"/>
          </c:marker>
          <c:cat>
            <c:numRef>
              <c:f>'Chart Data'!$A$2:$A$20</c:f>
              <c:numCache>
                <c:formatCode>General</c:formatCode>
                <c:ptCount val="19"/>
                <c:pt idx="0">
                  <c:v>05</c:v>
                </c:pt>
                <c:pt idx="1">
                  <c:v>06</c:v>
                </c:pt>
                <c:pt idx="2">
                  <c:v>07</c:v>
                </c:pt>
                <c:pt idx="3">
                  <c:v>08</c:v>
                </c:pt>
                <c:pt idx="4">
                  <c:v>09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</c:numCache>
            </c:numRef>
          </c:cat>
          <c:val>
            <c:numRef>
              <c:f>'Chart Data'!$B$2:$B$20</c:f>
              <c:numCache>
                <c:formatCode>General</c:formatCode>
                <c:ptCount val="19"/>
                <c:pt idx="0">
                  <c:v>0.028756</c:v>
                </c:pt>
                <c:pt idx="1">
                  <c:v>0.257846</c:v>
                </c:pt>
                <c:pt idx="2">
                  <c:v>0.691161</c:v>
                </c:pt>
                <c:pt idx="3">
                  <c:v>1.198579</c:v>
                </c:pt>
                <c:pt idx="4">
                  <c:v>1.531591</c:v>
                </c:pt>
                <c:pt idx="5">
                  <c:v>1.671265</c:v>
                </c:pt>
                <c:pt idx="6">
                  <c:v>1.770666</c:v>
                </c:pt>
                <c:pt idx="7">
                  <c:v>1.93581</c:v>
                </c:pt>
                <c:pt idx="8">
                  <c:v>1.985593</c:v>
                </c:pt>
                <c:pt idx="9">
                  <c:v>1.875851</c:v>
                </c:pt>
                <c:pt idx="10">
                  <c:v>1.776959</c:v>
                </c:pt>
                <c:pt idx="11">
                  <c:v>1.738656</c:v>
                </c:pt>
                <c:pt idx="12">
                  <c:v>1.717091</c:v>
                </c:pt>
                <c:pt idx="13">
                  <c:v>1.643319</c:v>
                </c:pt>
                <c:pt idx="14">
                  <c:v>1.594288</c:v>
                </c:pt>
                <c:pt idx="15">
                  <c:v>1.441718</c:v>
                </c:pt>
                <c:pt idx="16">
                  <c:v>1.107819</c:v>
                </c:pt>
                <c:pt idx="17">
                  <c:v>0.597568</c:v>
                </c:pt>
                <c:pt idx="18">
                  <c:v>0.162592</c:v>
                </c:pt>
              </c:numCache>
            </c:numRef>
          </c:val>
        </c:ser>
        <c:ser>
          <c:idx val="1"/>
          <c:order val="1"/>
          <c:tx>
            <c:v>SAB-C2</c:v>
          </c:tx>
          <c:spPr>
            <a:ln xmlns:a="http://schemas.openxmlformats.org/drawingml/2006/main" w="28575">
              <a:solidFill>
                <a:srgbClr val="FFD400"/>
              </a:solidFill>
              <a:prstDash val="solid"/>
            </a:ln>
          </c:spPr>
          <c:marker>
            <c:symbol val="square"/>
            <c:size val="4"/>
          </c:marker>
          <c:cat>
            <c:numRef>
              <c:f>'Chart Data'!$C$2:$C$20</c:f>
              <c:numCache>
                <c:formatCode>General</c:formatCode>
                <c:ptCount val="19"/>
                <c:pt idx="0">
                  <c:v>05</c:v>
                </c:pt>
                <c:pt idx="1">
                  <c:v>06</c:v>
                </c:pt>
                <c:pt idx="2">
                  <c:v>07</c:v>
                </c:pt>
                <c:pt idx="3">
                  <c:v>08</c:v>
                </c:pt>
                <c:pt idx="4">
                  <c:v>09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</c:numCache>
            </c:numRef>
          </c:cat>
          <c:val>
            <c:numRef>
              <c:f>'Chart Data'!$D$2:$D$20</c:f>
              <c:numCache>
                <c:formatCode>General</c:formatCode>
                <c:ptCount val="19"/>
                <c:pt idx="0">
                  <c:v>0.012395</c:v>
                </c:pt>
                <c:pt idx="1">
                  <c:v>0.134496</c:v>
                </c:pt>
                <c:pt idx="2">
                  <c:v>0.380972</c:v>
                </c:pt>
                <c:pt idx="3">
                  <c:v>0.715825</c:v>
                </c:pt>
                <c:pt idx="4">
                  <c:v>1.047484</c:v>
                </c:pt>
                <c:pt idx="5">
                  <c:v>1.368108</c:v>
                </c:pt>
                <c:pt idx="6">
                  <c:v>1.84911</c:v>
                </c:pt>
                <c:pt idx="7">
                  <c:v>2.551093</c:v>
                </c:pt>
                <c:pt idx="8">
                  <c:v>2.88715</c:v>
                </c:pt>
                <c:pt idx="9">
                  <c:v>2.692386</c:v>
                </c:pt>
                <c:pt idx="10">
                  <c:v>2.214891</c:v>
                </c:pt>
                <c:pt idx="11">
                  <c:v>1.839014</c:v>
                </c:pt>
                <c:pt idx="12">
                  <c:v>1.696155</c:v>
                </c:pt>
                <c:pt idx="13">
                  <c:v>1.495261</c:v>
                </c:pt>
                <c:pt idx="14">
                  <c:v>1.312612</c:v>
                </c:pt>
                <c:pt idx="15">
                  <c:v>1.126786</c:v>
                </c:pt>
                <c:pt idx="16">
                  <c:v>0.784645</c:v>
                </c:pt>
                <c:pt idx="17">
                  <c:v>0.434618</c:v>
                </c:pt>
                <c:pt idx="18">
                  <c:v>0.156881</c:v>
                </c:pt>
              </c:numCache>
            </c:numRef>
          </c:val>
        </c:ser>
        <c:ser>
          <c:idx val="2"/>
          <c:order val="2"/>
          <c:tx>
            <c:v>SAB-C3</c:v>
          </c:tx>
          <c:spPr>
            <a:ln xmlns:a="http://schemas.openxmlformats.org/drawingml/2006/main" w="28575">
              <a:solidFill>
                <a:srgbClr val="00A8C6"/>
              </a:solidFill>
              <a:prstDash val="solid"/>
            </a:ln>
          </c:spPr>
          <c:marker>
            <c:symbol val="triangle"/>
            <c:size val="4"/>
          </c:marker>
          <c:cat>
            <c:numRef>
              <c:f>'Chart Data'!$E$2:$E$20</c:f>
              <c:numCache>
                <c:formatCode>General</c:formatCode>
                <c:ptCount val="19"/>
                <c:pt idx="0">
                  <c:v>05</c:v>
                </c:pt>
                <c:pt idx="1">
                  <c:v>06</c:v>
                </c:pt>
                <c:pt idx="2">
                  <c:v>07</c:v>
                </c:pt>
                <c:pt idx="3">
                  <c:v>08</c:v>
                </c:pt>
                <c:pt idx="4">
                  <c:v>09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</c:numCache>
            </c:numRef>
          </c:cat>
          <c:val>
            <c:numRef>
              <c:f>'Chart Data'!$F$2:$F$20</c:f>
              <c:numCache>
                <c:formatCode>General</c:formatCode>
                <c:ptCount val="19"/>
                <c:pt idx="0">
                  <c:v>0.019582</c:v>
                </c:pt>
                <c:pt idx="1">
                  <c:v>0.156642</c:v>
                </c:pt>
                <c:pt idx="2">
                  <c:v>0.406255</c:v>
                </c:pt>
                <c:pt idx="3">
                  <c:v>0.691039</c:v>
                </c:pt>
                <c:pt idx="4">
                  <c:v>0.961812</c:v>
                </c:pt>
                <c:pt idx="5">
                  <c:v>1.176698</c:v>
                </c:pt>
                <c:pt idx="6">
                  <c:v>1.423244</c:v>
                </c:pt>
                <c:pt idx="7">
                  <c:v>1.780662</c:v>
                </c:pt>
                <c:pt idx="8">
                  <c:v>1.981422</c:v>
                </c:pt>
                <c:pt idx="9">
                  <c:v>1.94639</c:v>
                </c:pt>
                <c:pt idx="10">
                  <c:v>1.901855</c:v>
                </c:pt>
                <c:pt idx="11">
                  <c:v>1.960253</c:v>
                </c:pt>
                <c:pt idx="12">
                  <c:v>2.03624</c:v>
                </c:pt>
                <c:pt idx="13">
                  <c:v>2.032844</c:v>
                </c:pt>
                <c:pt idx="14">
                  <c:v>1.994927</c:v>
                </c:pt>
                <c:pt idx="15">
                  <c:v>1.819063</c:v>
                </c:pt>
                <c:pt idx="16">
                  <c:v>1.356478</c:v>
                </c:pt>
                <c:pt idx="17">
                  <c:v>0.747486</c:v>
                </c:pt>
                <c:pt idx="18">
                  <c:v>0.265145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C9C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111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Domingo / feriado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11111"/>
              </a:solidFill>
              <a:latin typeface="Arial Black"/>
              <a:ea typeface="Arial Black"/>
              <a:cs typeface="Arial Black"/>
            </a:defRPr>
          </a:pPr>
        </a:p>
      </c:txPr>
    </c:title>
    <c:plotArea>
      <c:lineChart>
        <c:grouping val="standard"/>
        <c:ser>
          <c:idx val="0"/>
          <c:order val="0"/>
          <c:tx>
            <c:v>DOM-C1</c:v>
          </c:tx>
          <c:spPr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4"/>
          </c:marker>
          <c:cat>
            <c:numRef>
              <c:f>'Chart Data'!$A$2:$A$20</c:f>
              <c:numCache>
                <c:formatCode>General</c:formatCode>
                <c:ptCount val="19"/>
                <c:pt idx="0">
                  <c:v>05</c:v>
                </c:pt>
                <c:pt idx="1">
                  <c:v>06</c:v>
                </c:pt>
                <c:pt idx="2">
                  <c:v>07</c:v>
                </c:pt>
                <c:pt idx="3">
                  <c:v>08</c:v>
                </c:pt>
                <c:pt idx="4">
                  <c:v>09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</c:numCache>
            </c:numRef>
          </c:cat>
          <c:val>
            <c:numRef>
              <c:f>'Chart Data'!$B$2:$B$20</c:f>
              <c:numCache>
                <c:formatCode>General</c:formatCode>
                <c:ptCount val="19"/>
                <c:pt idx="0">
                  <c:v>0.010896</c:v>
                </c:pt>
                <c:pt idx="1">
                  <c:v>0</c:v>
                </c:pt>
                <c:pt idx="2">
                  <c:v>0.024381</c:v>
                </c:pt>
                <c:pt idx="3">
                  <c:v>0.487293</c:v>
                </c:pt>
                <c:pt idx="4">
                  <c:v>0.953054</c:v>
                </c:pt>
                <c:pt idx="5">
                  <c:v>1.247382</c:v>
                </c:pt>
                <c:pt idx="6">
                  <c:v>1.562532</c:v>
                </c:pt>
                <c:pt idx="7">
                  <c:v>1.913929</c:v>
                </c:pt>
                <c:pt idx="8">
                  <c:v>2.053461</c:v>
                </c:pt>
                <c:pt idx="9">
                  <c:v>1.978879</c:v>
                </c:pt>
                <c:pt idx="10">
                  <c:v>2.083558</c:v>
                </c:pt>
                <c:pt idx="11">
                  <c:v>2.243697</c:v>
                </c:pt>
                <c:pt idx="12">
                  <c:v>2.294794</c:v>
                </c:pt>
                <c:pt idx="13">
                  <c:v>2.222765</c:v>
                </c:pt>
                <c:pt idx="14">
                  <c:v>2.13293</c:v>
                </c:pt>
                <c:pt idx="15">
                  <c:v>1.869245</c:v>
                </c:pt>
                <c:pt idx="16">
                  <c:v>1.277729</c:v>
                </c:pt>
                <c:pt idx="17">
                  <c:v>0.478277</c:v>
                </c:pt>
                <c:pt idx="18">
                  <c:v>0.011362</c:v>
                </c:pt>
              </c:numCache>
            </c:numRef>
          </c:val>
        </c:ser>
        <c:ser>
          <c:idx val="1"/>
          <c:order val="1"/>
          <c:tx>
            <c:v>DOM-C2</c:v>
          </c:tx>
          <c:spPr>
            <a:ln xmlns:a="http://schemas.openxmlformats.org/drawingml/2006/main" w="28575">
              <a:solidFill>
                <a:srgbClr val="FFD400"/>
              </a:solidFill>
              <a:prstDash val="solid"/>
            </a:ln>
          </c:spPr>
          <c:marker>
            <c:symbol val="square"/>
            <c:size val="4"/>
          </c:marker>
          <c:cat>
            <c:numRef>
              <c:f>'Chart Data'!$C$2:$C$20</c:f>
              <c:numCache>
                <c:formatCode>General</c:formatCode>
                <c:ptCount val="19"/>
                <c:pt idx="0">
                  <c:v>05</c:v>
                </c:pt>
                <c:pt idx="1">
                  <c:v>06</c:v>
                </c:pt>
                <c:pt idx="2">
                  <c:v>07</c:v>
                </c:pt>
                <c:pt idx="3">
                  <c:v>08</c:v>
                </c:pt>
                <c:pt idx="4">
                  <c:v>09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</c:numCache>
            </c:numRef>
          </c:cat>
          <c:val>
            <c:numRef>
              <c:f>'Chart Data'!$D$2:$D$20</c:f>
              <c:numCache>
                <c:formatCode>General</c:formatCode>
                <c:ptCount val="19"/>
                <c:pt idx="0">
                  <c:v>0.003546</c:v>
                </c:pt>
                <c:pt idx="1">
                  <c:v>0</c:v>
                </c:pt>
                <c:pt idx="2">
                  <c:v>0.027919</c:v>
                </c:pt>
                <c:pt idx="3">
                  <c:v>0.324698</c:v>
                </c:pt>
                <c:pt idx="4">
                  <c:v>0.603418</c:v>
                </c:pt>
                <c:pt idx="5">
                  <c:v>0.809215</c:v>
                </c:pt>
                <c:pt idx="6">
                  <c:v>1.090798</c:v>
                </c:pt>
                <c:pt idx="7">
                  <c:v>1.40947</c:v>
                </c:pt>
                <c:pt idx="8">
                  <c:v>1.549328</c:v>
                </c:pt>
                <c:pt idx="9">
                  <c:v>1.584088</c:v>
                </c:pt>
                <c:pt idx="10">
                  <c:v>1.838236</c:v>
                </c:pt>
                <c:pt idx="11">
                  <c:v>2.24551</c:v>
                </c:pt>
                <c:pt idx="12">
                  <c:v>2.640014</c:v>
                </c:pt>
                <c:pt idx="13">
                  <c:v>2.942871</c:v>
                </c:pt>
                <c:pt idx="14">
                  <c:v>2.864569</c:v>
                </c:pt>
                <c:pt idx="15">
                  <c:v>2.46791</c:v>
                </c:pt>
                <c:pt idx="16">
                  <c:v>1.688988</c:v>
                </c:pt>
                <c:pt idx="17">
                  <c:v>0.669148</c:v>
                </c:pt>
                <c:pt idx="18">
                  <c:v>0.057079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C9C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111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d8c352616470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F9FB4-9292-4DF0-AA90-4B9AE8EF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8810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B3C78-50C9-4BD2-8557-9FF72367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76625"/>
            <a:ext cx="88106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k title">
            <a:extLst xmlns:a="http://schemas.openxmlformats.org/drawingml/2006/main">
              <a:ext uri="{FF2B5EF4-FFF2-40B4-BE49-F238E27FC236}">
                <a16:creationId xmlns:a16="http://schemas.microsoft.com/office/drawing/2014/main" id="{0BFF012F-C916-414C-9160-8A71F0D7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71575"/>
            <a:ext cx="7620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95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495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EL PULSO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495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495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ESPACIO-TEMPORAL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17988-9354-494D-9CD0-0AE43E2A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 i="0">
                <a:solidFill>
                  <a:srgbClr val="FFD4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D400"/>
                </a:solidFill>
                <a:latin typeface="Arial"/>
                <a:ea typeface="Arial"/>
                <a:cs typeface="Arial"/>
              </a:rPr>
              <a:t>DEL SUBTE DE BUENOS AIRES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dfa0a4e2d4311"/>
          <a:stretch xmlns:a="http://schemas.openxmlformats.org/drawingml/2006/main"/>
        </p:blipFill>
        <p:spPr>
          <a:xfrm xmlns:a="http://schemas.openxmlformats.org/drawingml/2006/main">
            <a:off x="9620250" y="51435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9122C-0858-401C-A743-05E908C1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FPCA · CLUSTERING · MAXVOL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B287E-9C9B-4F7C-AA75-F7B1989D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Demanda de pasajeros · 2014–2026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06aa7cc904e32"/>
          <a:stretch xmlns:a="http://schemas.openxmlformats.org/drawingml/2006/main"/>
        </p:blipFill>
        <p:spPr>
          <a:xfrm xmlns:a="http://schemas.openxmlformats.org/drawingml/2006/main">
            <a:off x="5507421" y="4286250"/>
            <a:ext cx="5844409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9E29C-4D42-46E8-B01D-00D27CB6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4143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F57D4-7D82-4851-869B-E5C9F12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3402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PROYECTO FINAL · VISUALIZACIÓN DE DATOS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9D6F9-2695-46DE-8CFD-ED9F9488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E049F-E363-4D6D-A488-9D6D10DC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7524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6430834994cf8"/>
          <a:stretch xmlns:a="http://schemas.openxmlformats.org/drawingml/2006/main"/>
        </p:blipFill>
        <p:spPr>
          <a:xfrm xmlns:a="http://schemas.openxmlformats.org/drawingml/2006/main">
            <a:off x="310581" y="6267450"/>
            <a:ext cx="883789" cy="2952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289CC-3DAA-4B8B-A78E-D9D24BD7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PROYECTO FINAL · PULSO DEL SUBTE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6DD1D-5A45-4E04-98DA-24CF930F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6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823905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c57b10c6648b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F2495-7CC6-4CC8-BEC4-6AC4E8BA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33625"/>
            <a:ext cx="9525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A087C-07ED-4E8A-ACE9-A493D125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574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4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57DEF9-FC3A-4863-B8FB-187E8CF2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819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525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525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El proyecto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59188-12A2-4E88-9D57-5765BAF0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Problema, datos, audiencia y contexto de 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766E6-9E3C-4359-9478-095B66CA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62EB8-4C13-466E-9BB9-55374373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41541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e64d4c2fd4a23"/>
          <a:stretch xmlns:a="http://schemas.openxmlformats.org/drawingml/2006/main"/>
        </p:blipFill>
        <p:spPr>
          <a:xfrm xmlns:a="http://schemas.openxmlformats.org/drawingml/2006/main">
            <a:off x="973521" y="6267450"/>
            <a:ext cx="883789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3C067-D590-4434-BCB0-39AD7259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PROYECTO FINAL · PULSO DEL SUBTE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E5CB3-417E-42D5-88A5-BAC74BFD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980547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45E95-9276-410A-8C77-DBAED1D3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4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4D63CC8-C7AE-46F0-9631-7E6509F4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Why: el total diario oculta la forma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972A2-3378-4221-8666-EE13E656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23875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4DF43-AE12-4A92-851C-D74806C0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EED5E-3CCA-4E80-8F89-AFA27BB3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207835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8ca0980514464"/>
          <a:stretch xmlns:a="http://schemas.openxmlformats.org/drawingml/2006/main"/>
        </p:blipFill>
        <p:spPr>
          <a:xfrm xmlns:a="http://schemas.openxmlformats.org/drawingml/2006/main">
            <a:off x="1636461" y="6267450"/>
            <a:ext cx="883789" cy="295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5C8E8-91C1-4768-A08A-26592474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PROYECTO FINAL · PULSO DEL SUBTE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1D89E-FA5A-41CC-8D4F-74CFC746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9ED01-1B6A-4A80-852B-3DC423A7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5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85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¿Cómo cambió la geografía y la temporalidad de la demanda, y qué perfiles caracterizan a las estaciones?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F81D5-ACA5-4AF2-BF4F-CEE9F0DB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304800" indent="-152400">
              <a:lnSpc>
                <a:spcPct val="116000"/>
              </a:lnSpc>
              <a:spcAft>
                <a:spcPts val="1400"/>
              </a:spcAft>
              <a:buNone/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Comparar estaciones sin confundir tamaño con forma horaria.</a:t>
            </a:r>
          </a:p>
          <a:p xmlns:a="http://schemas.openxmlformats.org/drawingml/2006/main">
            <a:pPr marL="304800" indent="-152400">
              <a:lnSpc>
                <a:spcPct val="116000"/>
              </a:lnSpc>
              <a:spcAft>
                <a:spcPts val="1400"/>
              </a:spcAft>
              <a:buNone/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Distinguir laborables, sábados y domingos o feriados.</a:t>
            </a:r>
          </a:p>
          <a:p xmlns:a="http://schemas.openxmlformats.org/drawingml/2006/main">
            <a:pPr marL="304800" indent="-152400">
              <a:lnSpc>
                <a:spcPct val="116000"/>
              </a:lnSpc>
              <a:spcAft>
                <a:spcPts val="1400"/>
              </a:spcAft>
              <a:buNone/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Reconocer cambios históricos sin leer la pandemia ni un año parcial como tendencia estable.</a:t>
            </a:r>
          </a:p>
          <a:p xmlns:a="http://schemas.openxmlformats.org/drawingml/2006/main">
            <a:pPr marL="304800" indent="-152400">
              <a:lnSpc>
                <a:spcPct val="116000"/>
              </a:lnSpc>
              <a:spcAft>
                <a:spcPts val="1400"/>
              </a:spcAft>
              <a:buNone/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Convertir el análisis en una aplicación visual explorable.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32AF4-71EA-4148-A8AC-F0043625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76875"/>
            <a:ext cx="94297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5AB99-D555-4062-9AC3-D78DE76B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7687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25409-7F7C-4DEF-A889-29FDF14C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648325"/>
            <a:ext cx="897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Objetivo: explicar dónde, cuándo y cómo cambia el uso típico de la red.</a:t>
            </a:r>
          </a:p>
        </p:txBody>
      </p:sp>
    </p:spTree>
    <p:extLst>
      <p:ext uri="{BB962C8B-B14F-4D97-AF65-F5344CB8AC3E}">
        <p14:creationId xmlns:p14="http://schemas.microsoft.com/office/powerpoint/2010/main" val="10385456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DF9E3F-B5CF-4CDC-B5EA-05F0D11F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4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A49C081-D01B-4D4C-890F-10A9D446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What: datos cada 15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0488E-7C66-48BF-9A76-CE386382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23875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77723-2D8E-4DA7-9084-428B364B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02AD3-33EF-4B95-95B3-1BB681E7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274129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fa5f713e445cb"/>
          <a:stretch xmlns:a="http://schemas.openxmlformats.org/drawingml/2006/main"/>
        </p:blipFill>
        <p:spPr>
          <a:xfrm xmlns:a="http://schemas.openxmlformats.org/drawingml/2006/main">
            <a:off x="2299401" y="6267450"/>
            <a:ext cx="883789" cy="295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F47A8-BF30-4B01-B9E7-8653E278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PROYECTO FINAL · PULSO DEL SUBTE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704FE-A548-4262-A6E6-4DD0A0C3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BC788-25B0-4C5D-B302-BD59FCA7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22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Período: </a:t>
            </a:r>
            <a:r>
              <a:rPr sz="2250">
                <a:solidFill>
                  <a:srgbClr val="111111"/>
                </a:solidFill>
                <a:latin typeface="Arial"/>
                <a:ea typeface="Arial"/>
                <a:cs typeface="Arial"/>
              </a:rPr>
              <a:t>2014–2026; 2026 llega al 30 de junio.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22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Unidad: </a:t>
            </a:r>
            <a:r>
              <a:rPr sz="2250">
                <a:solidFill>
                  <a:srgbClr val="111111"/>
                </a:solidFill>
                <a:latin typeface="Arial"/>
                <a:ea typeface="Arial"/>
                <a:cs typeface="Arial"/>
              </a:rPr>
              <a:t>línea + estación + fecha + intervalo de 15 minutos.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22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Segmentos: </a:t>
            </a:r>
            <a:r>
              <a:rPr sz="2250">
                <a:solidFill>
                  <a:srgbClr val="111111"/>
                </a:solidFill>
                <a:latin typeface="Arial"/>
                <a:ea typeface="Arial"/>
                <a:cs typeface="Arial"/>
              </a:rPr>
              <a:t>laborable, sábado y domingo/feriado.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22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Derivados: </a:t>
            </a:r>
            <a:r>
              <a:rPr sz="2250">
                <a:solidFill>
                  <a:srgbClr val="111111"/>
                </a:solidFill>
                <a:latin typeface="Arial"/>
                <a:ea typeface="Arial"/>
                <a:cs typeface="Arial"/>
              </a:rPr>
              <a:t>curvas típicas, scores FPCA, clusters, prototipos y capa geográfica.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CC458-B002-4A28-A6A6-0EE53B54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76375"/>
            <a:ext cx="4048125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74FCE-865F-4E6A-854D-8D85F526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335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122 / 122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86BE4-1998-424B-A48A-CA0C27DD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907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fuentes aceptadas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C1888-7454-4438-A6DE-4608BF41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4792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139,2 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769B6-1E7E-4AE4-ADCF-76C1B304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050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filas estandarizadas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F30AB-E4BE-4A6E-9B34-0F73366B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6230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137,2 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0CA64-3D6D-46C8-AE8E-F96835C1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filas tras resolver la clave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40C2F-B98B-4325-9109-4167EF25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3.270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267D7-96DB-4500-B84D-E90F8E46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3382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curvas funcionales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8A756-E4F1-4E52-84B4-A70490B5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0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2655D-0A73-485B-BC02-4E324DFC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A5806-B8F8-471D-B4C5-2B7D64A1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1036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Alcance comparable: se excluye Premetro, se conserva la identidad línea + estación y se muestran las advertencias de cobertura.</a:t>
            </a:r>
          </a:p>
        </p:txBody>
      </p:sp>
    </p:spTree>
    <p:extLst>
      <p:ext uri="{BB962C8B-B14F-4D97-AF65-F5344CB8AC3E}">
        <p14:creationId xmlns:p14="http://schemas.microsoft.com/office/powerpoint/2010/main" val="4704177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188F2-546B-4115-839E-1955588B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4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19A9187-4E2F-4027-B7C2-498F48C6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To whom: explorar antes de decidir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5EE18-DBAE-4505-9D7F-7130DD61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23875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C9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7D1FC-22A7-4020-ABA1-C0D40669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B37DB-EFEB-4C69-A450-33B523D4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340423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67f5ebfbe4daa"/>
          <a:stretch xmlns:a="http://schemas.openxmlformats.org/drawingml/2006/main"/>
        </p:blipFill>
        <p:spPr>
          <a:xfrm xmlns:a="http://schemas.openxmlformats.org/drawingml/2006/main">
            <a:off x="2962341" y="6267450"/>
            <a:ext cx="883789" cy="295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441BE-B951-436A-98B7-D890ACAA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PROYECTO FINAL · PULSO DEL SUBTE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BB784-46E7-4824-AB85-7F9A36F6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C91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C67E1-762A-4E24-A44A-F32807BC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7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Audiencia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5A5F0-34DA-4F4E-A6C4-0950A9B3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304800" indent="-152400">
              <a:lnSpc>
                <a:spcPct val="116000"/>
              </a:lnSpc>
              <a:spcAft>
                <a:spcPts val="1400"/>
              </a:spcAft>
              <a:buNone/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Equipos de análisis y planificación de movilidad.</a:t>
            </a:r>
          </a:p>
          <a:p xmlns:a="http://schemas.openxmlformats.org/drawingml/2006/main">
            <a:pPr marL="304800" indent="-152400">
              <a:lnSpc>
                <a:spcPct val="116000"/>
              </a:lnSpc>
              <a:spcAft>
                <a:spcPts val="1400"/>
              </a:spcAft>
              <a:buNone/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Docente y jurado: trazabilidad y decisiones metodológicas.</a:t>
            </a:r>
          </a:p>
          <a:p xmlns:a="http://schemas.openxmlformats.org/drawingml/2006/main">
            <a:pPr marL="304800" indent="-152400">
              <a:lnSpc>
                <a:spcPct val="116000"/>
              </a:lnSpc>
              <a:spcAft>
                <a:spcPts val="1400"/>
              </a:spcAft>
              <a:buNone/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Público interesado en la dinámica de la red.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F85AF-069D-46AD-825D-037E3B3F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7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Contexto de uso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7FCAF-A8D7-4143-B71D-79FD2AD0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304800" indent="-152400">
              <a:lnSpc>
                <a:spcPct val="116000"/>
              </a:lnSpc>
              <a:spcAft>
                <a:spcPts val="1400"/>
              </a:spcAft>
              <a:buNone/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Notebook Jupyter con una aplicación Dash reproducible.</a:t>
            </a:r>
          </a:p>
          <a:p xmlns:a="http://schemas.openxmlformats.org/drawingml/2006/main">
            <a:pPr marL="304800" indent="-152400">
              <a:lnSpc>
                <a:spcPct val="116000"/>
              </a:lnSpc>
              <a:spcAft>
                <a:spcPts val="1400"/>
              </a:spcAft>
              <a:buNone/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Exploración por año, tipo de día, línea, hora y estación.</a:t>
            </a:r>
          </a:p>
          <a:p xmlns:a="http://schemas.openxmlformats.org/drawingml/2006/main">
            <a:pPr marL="304800" indent="-152400">
              <a:lnSpc>
                <a:spcPct val="116000"/>
              </a:lnSpc>
              <a:spcAft>
                <a:spcPts val="1400"/>
              </a:spcAft>
              <a:buNone/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Apoyo a reuniones de diagnóstico y formulación de nuevas preguntas.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CA6E1-BA9D-426E-996C-4F4AC3E3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19700"/>
            <a:ext cx="9620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1F4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3B710-209E-481C-B4A8-50F580D4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197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20441-D957-4605-929E-870E28C0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391150"/>
            <a:ext cx="916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El tablero aporta evidencia descriptiva. No reemplaza datos de capacidad, tiempos de viaje ni un diseño causal.</a:t>
            </a:r>
          </a:p>
        </p:txBody>
      </p:sp>
    </p:spTree>
    <p:extLst>
      <p:ext uri="{BB962C8B-B14F-4D97-AF65-F5344CB8AC3E}">
        <p14:creationId xmlns:p14="http://schemas.microsoft.com/office/powerpoint/2010/main" val="2122266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5D0B61-48B6-4727-B7C7-2965E1C3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4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15CA370-9900-4D34-9D8E-61EBE1AF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How: vistas y lenguaje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505FA-BDBF-4840-B2CF-2B5179A8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23875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89A56-340F-4455-BE1B-E6AA6EE8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2C35B-EAAA-43C9-9065-B4BF98B0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40671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dd6b788ed44b9"/>
          <a:stretch xmlns:a="http://schemas.openxmlformats.org/drawingml/2006/main"/>
        </p:blipFill>
        <p:spPr>
          <a:xfrm xmlns:a="http://schemas.openxmlformats.org/drawingml/2006/main">
            <a:off x="3625281" y="6267450"/>
            <a:ext cx="883789" cy="295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A7AE1-E08C-4B8D-AA75-CD37504F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PROYECTO FINAL · PULSO DEL SUBTE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B4E22-54EE-4BE9-9790-F3ECB308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CD947-C25F-44F2-ADF2-B0F1F0F2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VISTAS → TAREAS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3D1DA-9BC3-46E8-8F8E-FD271CBD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6E6D7-66A9-4CFA-A16E-CE2D8213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7526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5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Mapa horario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E17F7-DD4C-49BD-BED5-D846860E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2882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Localizar concentración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E5B44-FF6B-420B-9172-4E494749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762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68704-B6E8-4E3C-85F1-59B4B16E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336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5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Heatmap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658E5-C94B-48A1-BC79-9480ED91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98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Comparar formas del día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357CB-3B32-4B70-9789-D07C5EB1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762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3FA26-5E21-4FE5-9726-7604E4F3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3147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5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Matriz de presión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EA52A-3F71-4DD2-9BB1-1DDFD98C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9092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Cruzar volumen e intensidad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C3F7F-2998-4E99-966B-2C7FC0A6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62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1CD356-1980-45B4-942E-C353E057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957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5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Evolución / detalle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D2353-77DB-4BC9-ACC9-0F34752C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719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Explicar cambios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7CAD9-70ED-441F-85F4-08EFCAFE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3239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VARIABLE VISUAL → SIGNIFICADO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86EE97-3C37-4A40-9751-3C57187C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33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6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A2C20E-1CDA-4F5D-A3A2-36270542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POSICIÓN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456135-5BA8-4626-A845-19DF16D9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954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estación y hora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AE65E7-4503-4328-A869-0BF3798B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90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C0E960-66BC-4D48-852A-DFFD598E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52675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TAMAÑO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3FA53-E4FB-4971-B47C-10DC70D0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526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pasajeros absolutos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5294D3-AA11-4FF7-AD9B-BB6B3589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9C03B6-6FF9-4ECC-BF54-E9A17E07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TONO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330517-2018-4B18-A6A2-B8F5A4EA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099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línea o categoría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9F7786-1C3F-43B6-A56C-1F4A8A6D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05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8E9301-7E5D-4601-8522-D284A73E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VALOR / INTENSIDAD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1F0BD8-0B51-4800-8A28-D8427B5D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participación o énfasis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CB1CA0-4C4B-4787-A629-B4E18C63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62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C91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5C5A8F-EB84-4AE0-ACC2-337D72B4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OPACIDAD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763940-C3C7-4CE3-A75E-73DA7927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243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contexto vs. selección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1FB180-54AE-4BD7-B491-3AB61A21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04394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BFD18F-3C8F-41AC-B2C3-5559F0CA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9FEDAF-B543-4BD8-BF91-409BF82F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998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Amarillo + negro = identidad cultural. El color de línea clasifica; la magnitud se apoya también en posición, tamaño y etiquetas.</a:t>
            </a:r>
          </a:p>
        </p:txBody>
      </p:sp>
    </p:spTree>
    <p:extLst>
      <p:ext uri="{BB962C8B-B14F-4D97-AF65-F5344CB8AC3E}">
        <p14:creationId xmlns:p14="http://schemas.microsoft.com/office/powerpoint/2010/main" val="417822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addecd630401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A0379-FC96-4BF3-BAFD-3D8A9BEE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33625"/>
            <a:ext cx="9525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A4C50-3CD8-4499-AA71-1EF3913C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574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4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AEDB799-EB9A-4575-93CC-95F932BC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819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525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525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Del dato al modelo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0CDE1-2807-488F-826D-7E6309C3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Calidad, curvas funcionales y reducción dimensional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4060B-816D-44CC-9F15-FCA645ED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CB7A3-3AFA-4E97-BDAA-57AE8195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473011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8de5755b64ab4"/>
          <a:stretch xmlns:a="http://schemas.openxmlformats.org/drawingml/2006/main"/>
        </p:blipFill>
        <p:spPr>
          <a:xfrm xmlns:a="http://schemas.openxmlformats.org/drawingml/2006/main">
            <a:off x="4288221" y="6267450"/>
            <a:ext cx="883789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F6A3B-1EFF-4A57-8811-8A5802ED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PROYECTO FINAL · PULSO DEL SUBTE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A6682-EC89-4579-A3B1-7B067EA2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6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03012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C794EB-579B-4986-9758-25E7256F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4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DB430F1-2FD5-427E-BD60-2483AA5D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La comparabilidad precede al modelado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7C6BF-D7B9-44E3-B852-BD55F3F7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23875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E6B4D-FB15-451F-AC77-B910AFC2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9FF0E-ED2A-45D8-9026-784BDFE8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539305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1df5d6acd48f5"/>
          <a:stretch xmlns:a="http://schemas.openxmlformats.org/drawingml/2006/main"/>
        </p:blipFill>
        <p:spPr>
          <a:xfrm xmlns:a="http://schemas.openxmlformats.org/drawingml/2006/main">
            <a:off x="4951161" y="6267450"/>
            <a:ext cx="883789" cy="295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8F868-FE71-4975-8DD5-298B255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PROYECTO FINAL · PULSO DEL SUBTE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AE9D3-62A4-4E12-BF6C-5C4BCDB4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CE8BB-1F0D-4CB5-B4CF-7B43514A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C9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DC67D-0616-46C2-8793-D23CD7A8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66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A5C3B-8144-4CB6-99AB-C683271D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02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Ingesta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F5F55-A1AB-47E1-A088-1D22882F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3855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122 fuentes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5A325-7AF2-4964-BA64-3E525B4A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66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F894F-9EAE-489A-B9D3-6AAECFBD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02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F777C-EF8C-437D-BF0D-147B371B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3855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fechas, grilla y cobertura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C8D91-6CAE-4B71-BEFE-42761725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266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60FA0-0C0A-404A-AD66-BDB9A68B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432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02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Curvas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2C0CF-6F67-4A26-8BDF-1A00F103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3855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estación × año × segmento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30503A-8D29-47E3-B011-E2F76E60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266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3D088-0356-4A0E-9A88-14A79350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02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Modelos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3F287-F96E-488D-BF90-390C27E3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3855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FPCA, clusters y volumen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EEE96E-AC52-498F-8BBD-52DD9B3A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266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AE7154-C4FA-41AD-AD13-1776B4B4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432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02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Producto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CADD4A-81E2-40E1-9E55-D8834099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vistas coordinadas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DD7EBF-688F-4A47-812A-9AC455BB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48250"/>
            <a:ext cx="9048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67857E-CB7B-470D-92EF-86AE2C60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482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550274-BBB6-433D-B3E6-F886EEA6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19700"/>
            <a:ext cx="859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Resultado: 3.270 curvas comparables; 28 días faltantes quedan señalados y 2026 conserva la marca de año parcial.</a:t>
            </a:r>
          </a:p>
        </p:txBody>
      </p:sp>
    </p:spTree>
    <p:extLst>
      <p:ext uri="{BB962C8B-B14F-4D97-AF65-F5344CB8AC3E}">
        <p14:creationId xmlns:p14="http://schemas.microsoft.com/office/powerpoint/2010/main" val="14929634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A832C-2E78-4B75-A229-598B9B37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4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9CFAEFC-3B08-466D-A2B0-5332668D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FPCA por tipo de día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04595-457F-4A09-84E8-27207ED9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23875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5514E-D87A-484F-A1B2-DA6597A8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CC6BB-780A-41F7-B088-C528F86D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605599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2dc4bdb6f4a76"/>
          <a:stretch xmlns:a="http://schemas.openxmlformats.org/drawingml/2006/main"/>
        </p:blipFill>
        <p:spPr>
          <a:xfrm xmlns:a="http://schemas.openxmlformats.org/drawingml/2006/main">
            <a:off x="5614101" y="6267450"/>
            <a:ext cx="883789" cy="295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5C64A-367F-480F-8335-9AA58E6F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PROYECTO FINAL · PULSO DEL SUBTE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18FE4-EDE2-49A1-BD9E-BBCEBF5D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23875" y="1504950"/>
          <a:ext xmlns:a="http://schemas.openxmlformats.org/drawingml/2006/main" cx="53340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b1cb37f6d740f0"/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286500" y="1504950"/>
          <a:ext xmlns:a="http://schemas.openxmlformats.org/drawingml/2006/main" cx="53340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36ce8ebba245c8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FB3B0-18B4-4935-BD12-782017CE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10191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9D1B3-DBE3-4603-A8D3-6AECB728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D7ADE-AD7F-4582-831C-CB9A188C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362575"/>
            <a:ext cx="973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Laborables: 2 FPC explican 90,2%; sábados y domingos/feriados requieren 3. FPC1 destaca 08:15 y FPC2, 17:45.</a:t>
            </a:r>
          </a:p>
        </p:txBody>
      </p:sp>
    </p:spTree>
    <p:extLst>
      <p:ext uri="{BB962C8B-B14F-4D97-AF65-F5344CB8AC3E}">
        <p14:creationId xmlns:p14="http://schemas.microsoft.com/office/powerpoint/2010/main" val="18144587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7c48709eb433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B5A01-64BA-4D1B-978D-7353B1C5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33625"/>
            <a:ext cx="9525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27353-3E66-4BA8-87E8-17F1C5D1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574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4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9A457D-4A74-4AFA-A2EB-4C34C3EB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819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525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525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Resultados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7F0C5-4414-42C2-B629-89FEA7A7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Evolución de red, perfiles recurrentes y casos reales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E0455-8398-421A-A003-439D4917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9DCCE-3918-4CA3-BC87-3CD9E56B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671893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689ee496144d2"/>
          <a:stretch xmlns:a="http://schemas.openxmlformats.org/drawingml/2006/main"/>
        </p:blipFill>
        <p:spPr>
          <a:xfrm xmlns:a="http://schemas.openxmlformats.org/drawingml/2006/main">
            <a:off x="6277041" y="6267450"/>
            <a:ext cx="883789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CDC44-44EB-42DD-B1CA-C5FCB0A8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PROYECTO FINAL · PULSO DEL SUBTE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E24AE-3585-40BB-A986-4994D53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69719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213F7D-6525-48A0-9738-4BCDD623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4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51C7F27-317C-4FD5-90C4-AB55FE1E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2025 alcanza 51% del nivel de 2019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556E0-FE1A-4F73-BCE0-288291CA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23875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C9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37361-B49C-4414-A5F9-10968D28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AEDE6-F550-4300-B341-BFD646BC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7381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182110cbd49b2"/>
          <a:stretch xmlns:a="http://schemas.openxmlformats.org/drawingml/2006/main"/>
        </p:blipFill>
        <p:spPr>
          <a:xfrm xmlns:a="http://schemas.openxmlformats.org/drawingml/2006/main">
            <a:off x="6939981" y="6267450"/>
            <a:ext cx="883789" cy="295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3500D-E0B9-4C05-9E40-CD5B1A24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PROYECTO FINAL · PULSO DEL SUBTE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93F1E-4B21-43E8-9FCD-3CFB2649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C91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47700" y="1571625"/>
          <a:ext xmlns:a="http://schemas.openxmlformats.org/drawingml/2006/main" cx="7810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24eaf189764a0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C9E52-462E-4C2B-AD5B-1E39BA20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43050"/>
            <a:ext cx="2714625" cy="3733800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FFF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69586-5737-46DC-811E-819FB316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B4884-9D37-46DA-AEE7-5214F199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62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1,19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52E66-E18E-46D2-A260-2EA19142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98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máximo pre-pandemia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3F437-A94D-4F4B-85D8-8A8B0FA1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098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7EC49-B38F-4B7E-AA80-4242F13A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0,07 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5EBF8-D1C1-4EB5-A16D-CAE0369E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0992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ruptura extraordinaria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09040-1FD4-4ED9-BAED-1E3382AD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10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76128-BB16-4BCE-8824-0059757B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623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0,60 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D8EB8-DC03-47F2-B27F-45EFC16F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100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último año completo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8E38C0-9F8F-4381-8246-9619A236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1012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2026: enero–junio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5EEFC-C9A7-447C-A89D-A9F8A386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1440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6F1F8A-1D26-4597-B7E0-1BD888B6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3FA741-56B0-4E64-9574-025E1B56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10250"/>
            <a:ext cx="868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 comparación 2019–2025 muestra recuperación parcial: 51% del nivel diario.</a:t>
            </a:r>
          </a:p>
        </p:txBody>
      </p:sp>
    </p:spTree>
    <p:extLst>
      <p:ext uri="{BB962C8B-B14F-4D97-AF65-F5344CB8AC3E}">
        <p14:creationId xmlns:p14="http://schemas.microsoft.com/office/powerpoint/2010/main" val="8556595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25E87-A213-46DC-BBEE-6625D11F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4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F376716-2787-4B5F-A572-39F481B1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Perfiles horarios por tipo de día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2D4B7-8930-48E4-9E97-F8D8DDBD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23875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4BBB1-A851-4B8D-9224-0C0113D3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0B1B9-F88C-42AC-BFF2-754B6818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804481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c1b79b3444c95"/>
          <a:stretch xmlns:a="http://schemas.openxmlformats.org/drawingml/2006/main"/>
        </p:blipFill>
        <p:spPr>
          <a:xfrm xmlns:a="http://schemas.openxmlformats.org/drawingml/2006/main">
            <a:off x="7602921" y="6267450"/>
            <a:ext cx="883789" cy="295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6CAE4-7C4A-4506-BBB1-3DB566AC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PROYECTO FINAL · PULSO DEL SUBTE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71438-CA08-4441-A02B-CBA6FF15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333375" y="1476375"/>
          <a:ext xmlns:a="http://schemas.openxmlformats.org/drawingml/2006/main" cx="37147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131d46837a4c63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5D904-67B7-4AC2-915F-2AA70554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958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k=2 · silhouette 0,529 · ARI 1,000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4238625" y="1476375"/>
          <a:ext xmlns:a="http://schemas.openxmlformats.org/drawingml/2006/main" cx="37147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5ed2a46e234477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053CB-686B-41D8-8178-F9568C2D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958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k=3 · silhouette 0,381 · ARI 0,996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8143875" y="1476375"/>
          <a:ext xmlns:a="http://schemas.openxmlformats.org/drawingml/2006/main" cx="37147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98347c00f749e6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7AF6E-725C-4EAB-BB8B-DB111061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958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k=2 · silhouette 0,514 · ARI 0,998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6303F-B3C0-4FA7-A5D1-704D144B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76875"/>
            <a:ext cx="9048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FFDF3-88FA-4A4C-887A-D3DC9961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768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78B22-1C9C-4622-A6D2-F1E8550A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648325"/>
            <a:ext cx="859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Siete formas recurrentes: mañana o tarde en laborables; transición al mediodía y la tarde en fines de semana.</a:t>
            </a:r>
          </a:p>
        </p:txBody>
      </p:sp>
    </p:spTree>
    <p:extLst>
      <p:ext uri="{BB962C8B-B14F-4D97-AF65-F5344CB8AC3E}">
        <p14:creationId xmlns:p14="http://schemas.microsoft.com/office/powerpoint/2010/main" val="18729387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E22D8-86A1-41AD-A9BD-DC39913B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4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62B3F9D-3A58-4026-B523-E98DE6D9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Cambio de forma y estabilidad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06730-F5F1-45E7-BE1D-BF6946B7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23875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193AD-0CAA-4164-AAFC-E24EBF9E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E918C-E3A7-4870-B581-5D4CF673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870775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454f7a4b04919"/>
          <a:stretch xmlns:a="http://schemas.openxmlformats.org/drawingml/2006/main"/>
        </p:blipFill>
        <p:spPr>
          <a:xfrm xmlns:a="http://schemas.openxmlformats.org/drawingml/2006/main">
            <a:off x="8265861" y="6267450"/>
            <a:ext cx="883789" cy="295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42F0A-2455-477E-BA34-34C27539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PROYECTO FINAL · PULSO DEL SUBTE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2EEFC-8842-4A47-8B61-CA9026BA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6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24000"/>
                <a:gridCol w="3724275"/>
                <a:gridCol w="1285875"/>
                <a:gridCol w="2752725"/>
                <a:gridCol w="1762125"/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Segmento</a:t>
                      </a:r>
                    </a:p>
                  </a:txBody>
                  <a:tcPr marL="85725" marR="85725" marT="76200" marB="762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Estación</a:t>
                      </a:r>
                    </a:p>
                  </a:txBody>
                  <a:tcPr marL="85725" marR="85725" marT="76200" marB="762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Distancia</a:t>
                      </a:r>
                    </a:p>
                  </a:txBody>
                  <a:tcPr marL="85725" marR="85725" marT="76200" marB="762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Cluster 2019 / 2025</a:t>
                      </a:r>
                    </a:p>
                  </a:txBody>
                  <a:tcPr marL="85725" marR="85725" marT="76200" marB="762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Volumen 2025 / 2019</a:t>
                      </a:r>
                    </a:p>
                  </a:txBody>
                  <a:tcPr marL="85725" marR="85725" marT="76200" marB="76200" anchor="ctr">
                    <a:solidFill>
                      <a:srgbClr val="11111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Laborable</a:t>
                      </a:r>
                    </a:p>
                  </a:txBody>
                  <a:tcPr marL="85725" marR="85725" marT="76200" marB="76200" anchor="ctr">
                    <a:solidFill>
                      <a:srgbClr val="FFF5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 | GENERAL SAN MARTIN</a:t>
                      </a:r>
                    </a:p>
                  </a:txBody>
                  <a:tcPr marL="85725" marR="85725" marT="76200" marB="76200" anchor="ctr">
                    <a:solidFill>
                      <a:srgbClr val="FFF5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1,449</a:t>
                      </a:r>
                    </a:p>
                  </a:txBody>
                  <a:tcPr marL="85725" marR="85725" marT="76200" marB="76200" anchor="ctr">
                    <a:solidFill>
                      <a:srgbClr val="FFF5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LAB-C2 / LAB-C2</a:t>
                      </a:r>
                    </a:p>
                  </a:txBody>
                  <a:tcPr marL="85725" marR="85725" marT="76200" marB="76200" anchor="ctr">
                    <a:solidFill>
                      <a:srgbClr val="FFF5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41%</a:t>
                      </a:r>
                    </a:p>
                  </a:txBody>
                  <a:tcPr marL="85725" marR="85725" marT="76200" marB="76200" anchor="ctr">
                    <a:solidFill>
                      <a:srgbClr val="FFF5B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Laborable</a:t>
                      </a:r>
                    </a:p>
                  </a:txBody>
                  <a:tcPr marL="85725" marR="85725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 | INDEPENDENCIA</a:t>
                      </a:r>
                    </a:p>
                  </a:txBody>
                  <a:tcPr marL="85725" marR="85725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1,313</a:t>
                      </a:r>
                    </a:p>
                  </a:txBody>
                  <a:tcPr marL="85725" marR="85725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LAB-C2 / LAB-C2</a:t>
                      </a:r>
                    </a:p>
                  </a:txBody>
                  <a:tcPr marL="85725" marR="85725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86%</a:t>
                      </a:r>
                    </a:p>
                  </a:txBody>
                  <a:tcPr marL="85725" marR="85725" marT="76200" marB="76200" anchor="ctr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Laborable</a:t>
                      </a:r>
                    </a:p>
                  </a:txBody>
                  <a:tcPr marL="85725" marR="85725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 | RETIRO</a:t>
                      </a:r>
                    </a:p>
                  </a:txBody>
                  <a:tcPr marL="85725" marR="85725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1,257</a:t>
                      </a:r>
                    </a:p>
                  </a:txBody>
                  <a:tcPr marL="85725" marR="85725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LAB-C2 / LAB-C2</a:t>
                      </a:r>
                    </a:p>
                  </a:txBody>
                  <a:tcPr marL="85725" marR="85725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69%</a:t>
                      </a:r>
                    </a:p>
                  </a:txBody>
                  <a:tcPr marL="85725" marR="85725" marT="76200" marB="76200" anchor="ctr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Laborable</a:t>
                      </a:r>
                    </a:p>
                  </a:txBody>
                  <a:tcPr marL="85725" marR="85725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 | AVENIDA DE MAYO</a:t>
                      </a:r>
                    </a:p>
                  </a:txBody>
                  <a:tcPr marL="85725" marR="85725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1,249</a:t>
                      </a:r>
                    </a:p>
                  </a:txBody>
                  <a:tcPr marL="85725" marR="85725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LAB-C2 / LAB-C2</a:t>
                      </a:r>
                    </a:p>
                  </a:txBody>
                  <a:tcPr marL="85725" marR="85725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41%</a:t>
                      </a:r>
                    </a:p>
                  </a:txBody>
                  <a:tcPr marL="85725" marR="85725" marT="76200" marB="76200" anchor="ctr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Sábado</a:t>
                      </a:r>
                    </a:p>
                  </a:txBody>
                  <a:tcPr marL="85725" marR="85725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 | PIEDRAS</a:t>
                      </a:r>
                    </a:p>
                  </a:txBody>
                  <a:tcPr marL="85725" marR="85725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1,205</a:t>
                      </a:r>
                    </a:p>
                  </a:txBody>
                  <a:tcPr marL="85725" marR="85725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SAB-C1 / SAB-C1</a:t>
                      </a:r>
                    </a:p>
                  </a:txBody>
                  <a:tcPr marL="85725" marR="85725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70%</a:t>
                      </a:r>
                    </a:p>
                  </a:txBody>
                  <a:tcPr marL="85725" marR="85725" marT="76200" marB="76200" anchor="ctr"/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8A284-8A35-45AD-B4EC-691EECA9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10191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0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C4D15-0F92-4F2F-85D8-106C74C3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FFA6B-42C1-4730-9212-B51EB859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505450"/>
            <a:ext cx="973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 · General San Martín: distancia 1,449; conserva LAB-C2 y el volumen 2025 equivale al 41% de 2019.</a:t>
            </a:r>
          </a:p>
        </p:txBody>
      </p:sp>
    </p:spTree>
    <p:extLst>
      <p:ext uri="{BB962C8B-B14F-4D97-AF65-F5344CB8AC3E}">
        <p14:creationId xmlns:p14="http://schemas.microsoft.com/office/powerpoint/2010/main" val="11624077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40AD90-9E5A-4646-ABDB-F9C137AE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4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07BAF8A-487F-43CA-B51E-F6CA6BAE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MaxVol selecciona ejemplos reales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77DEA-995A-45B9-B675-C7047F0B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23875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731E9-0164-4A16-9C94-FE4D5CE2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9D794-9E31-4EEE-B042-270BF8CD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937069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3b886da6e4768"/>
          <a:stretch xmlns:a="http://schemas.openxmlformats.org/drawingml/2006/main"/>
        </p:blipFill>
        <p:spPr>
          <a:xfrm xmlns:a="http://schemas.openxmlformats.org/drawingml/2006/main">
            <a:off x="8928801" y="6267450"/>
            <a:ext cx="883789" cy="295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6D36E-C715-4D3C-8627-D04F2CE8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PROYECTO FINAL · PULSO DEL SUBTE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AC95A-BD13-400C-8636-CAE86EAA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8C32B-6D77-4A47-90C7-622F8060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3333750" cy="3714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DD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6CB41-2008-4336-B8BD-AFFD5776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752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LAB-P2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87FF7-366D-4EA5-BF5F-F25D109D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717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E · Pza. De Los Virreyes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D9F6D-DEC6-4D71-B9A1-D3276546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48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2015 · LAB-C1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9ABD0-3788-4334-A479-413F4005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571875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E36E5-CA85-472F-B6BB-5C0D4F93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hora pico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ACDB2-38DE-4A57-8B7E-2F5CB7BC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3862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10CAC-980D-408D-B954-51BFD25C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324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en su franja principal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483D37-3B40-421A-B21B-DDFE8B34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57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punta matutina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E21BF-FA58-47B9-AD24-E3F27183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3333750" cy="3714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C1B3D-1A5D-4650-9406-8DC9F968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52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SAB-P3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37CE1-719E-4D29-91DE-11A4B488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717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H · Facultad De Derecho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CB69F-EC35-4F1F-8456-22615CFE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2021 · SAB-C3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B685A-3933-4C9A-A404-4C8DB154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71875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18:00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450F1-A117-4353-9D79-D77FDE8A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hora pico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2312B5-6F24-40C6-BAC9-B5F16A4F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3862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BEFF5-1FEE-44E2-BA63-E29A4A1B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24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en su franja principal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E8E1F1-8E91-4600-8CF7-74655C57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57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tarde pospandemia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12BFF0-4A75-410D-BAAB-6F98E427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24000"/>
            <a:ext cx="3333750" cy="3714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EE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89A6A5-088E-4595-8BBE-95BF81A9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52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DOM-P3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188916-E484-4CD3-B7DB-7DD85853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1717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H · Facultad De Derecho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464B01-985A-457B-AC00-25679717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48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2018 · DOM-C2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062708-539A-4A8D-A112-AD64F621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571875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18:15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57349B-DFAE-4636-86EB-5B100AEE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714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hora pico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D87E84-279B-4ABF-9614-B5F56836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23862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71%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767FE6-AE78-487D-A6BF-4AEF9432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324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en su franja principal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93ADA9-C25E-4C8D-B4A5-78A07563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857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tarde concentrada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333563-2A5A-498A-A5DF-FBE63D42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76875"/>
            <a:ext cx="8858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9BB82D-D25B-457C-BCD3-8C2F1467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768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13AD34-AE83-422F-BF0C-0A027EE5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648325"/>
            <a:ext cx="840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Son perfiles observados en los bordes del espacio FPCA: ayudan a interpretar, pero no representan promedios.</a:t>
            </a:r>
          </a:p>
        </p:txBody>
      </p:sp>
    </p:spTree>
    <p:extLst>
      <p:ext uri="{BB962C8B-B14F-4D97-AF65-F5344CB8AC3E}">
        <p14:creationId xmlns:p14="http://schemas.microsoft.com/office/powerpoint/2010/main" val="9901896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23BDC-3453-4A98-B41F-C5C97BEB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4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4A4543E-F746-4193-8965-5060CB08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Vistas coordinadas e interacción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28330-6778-40A7-B341-965735F0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23875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7FE1A-0584-40C6-9279-C16FA970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8C7E9-17A0-4D58-AF02-16F90530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003363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e9bee5981454d"/>
          <a:stretch xmlns:a="http://schemas.openxmlformats.org/drawingml/2006/main"/>
        </p:blipFill>
        <p:spPr>
          <a:xfrm xmlns:a="http://schemas.openxmlformats.org/drawingml/2006/main">
            <a:off x="9591741" y="6267450"/>
            <a:ext cx="883789" cy="295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E2057-8DD8-400E-8B2A-1381950E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PROYECTO FINAL · PULSO DEL SUBTE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B8125-847C-4237-852E-1A1A428E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95375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89489"/>
                <a:gridCol w="4481080"/>
                <a:gridCol w="3983182"/>
              </a:tblGrid>
              <a:tr h="7429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Acción</a:t>
                      </a:r>
                    </a:p>
                  </a:txBody>
                  <a:tcPr marL="95250" marR="95250" marT="85725" marB="857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Vistas que cambian</a:t>
                      </a:r>
                    </a:p>
                  </a:txBody>
                  <a:tcPr marL="95250" marR="95250" marT="85725" marB="857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Tarea que resuelve</a:t>
                      </a:r>
                    </a:p>
                  </a:txBody>
                  <a:tcPr marL="95250" marR="95250" marT="85725" marB="85725" anchor="ctr">
                    <a:solidFill>
                      <a:srgbClr val="11111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Tipo de día, año y líneas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Tarjetas, mapa, heatmap, matriz, evolución y FPCA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Comparar escenarios con el mismo universo</a:t>
                      </a:r>
                    </a:p>
                  </a:txBody>
                  <a:tcPr marL="95250" marR="95250" marT="95250" marB="95250" anchor="ctr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Lazo o clic sobre un gráfico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Las 10 vistas vinculadas resaltan las mismas estaciones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Seguir casos entre geografía, volumen y forma</a:t>
                      </a:r>
                    </a:p>
                  </a:txBody>
                  <a:tcPr marL="95250" marR="95250" marT="95250" marB="95250" anchor="ctr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Cruzar selecciones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Se conserva la intersección de estaciones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Aislar casos que cumplen más de un criterio</a:t>
                      </a:r>
                    </a:p>
                  </a:txBody>
                  <a:tcPr marL="95250" marR="95250" marT="95250" marB="95250" anchor="ctr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Reproducir o pausar la hora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El mapa se anima; al pausar, la hora se marca en gráficos temporales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Relacionar el pulso geográfico con el perfil horario</a:t>
                      </a:r>
                    </a:p>
                  </a:txBody>
                  <a:tcPr marL="95250" marR="95250" marT="95250" marB="95250" anchor="ctr"/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774D2-EBD9-4293-9F61-D7246CBF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7B061-3A78-4F2A-9E25-52AF0669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7BAAB-A646-46BE-B4A0-40E485F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00700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Tres recorridos: Resumen de red, Detalle de estación y Patrones FPCA. Los filtros globales se conservan entre pestañas.</a:t>
            </a:r>
          </a:p>
        </p:txBody>
      </p:sp>
    </p:spTree>
    <p:extLst>
      <p:ext uri="{BB962C8B-B14F-4D97-AF65-F5344CB8AC3E}">
        <p14:creationId xmlns:p14="http://schemas.microsoft.com/office/powerpoint/2010/main" val="16616617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4BC86-F689-4036-9FCC-7215526F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4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3FE56D1-C873-4308-9E55-59DFCA87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675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Conclusiones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42053-DCD6-47EC-B105-56ED37FB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23875"/>
            <a:ext cx="45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389CE-FC59-4221-8EE6-2C14B475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3B2FF-71E3-45BD-A206-B74B76A7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0696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7cee8ca5b473a"/>
          <a:stretch xmlns:a="http://schemas.openxmlformats.org/drawingml/2006/main"/>
        </p:blipFill>
        <p:spPr>
          <a:xfrm xmlns:a="http://schemas.openxmlformats.org/drawingml/2006/main">
            <a:off x="10254681" y="6267450"/>
            <a:ext cx="883789" cy="295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3BE98-93FF-4766-8E97-89A632BE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1" i="0">
                <a:solidFill>
                  <a:srgbClr val="5B60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066"/>
                </a:solidFill>
                <a:latin typeface="Arial"/>
                <a:ea typeface="Arial"/>
                <a:cs typeface="Arial"/>
              </a:rPr>
              <a:t>PROYECTO FINAL · PULSO DEL SUBTE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80DD1-10C9-4ED7-A676-EB4D8827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50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44EDD-F16B-4505-858A-18E6405A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304800" indent="-152400">
              <a:lnSpc>
                <a:spcPct val="116000"/>
              </a:lnSpc>
              <a:spcAft>
                <a:spcPts val="1400"/>
              </a:spcAft>
              <a:buNone/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La forma horaria agrega información que el total diario no muestra.</a:t>
            </a:r>
          </a:p>
          <a:p xmlns:a="http://schemas.openxmlformats.org/drawingml/2006/main">
            <a:pPr marL="304800" indent="-152400">
              <a:lnSpc>
                <a:spcPct val="116000"/>
              </a:lnSpc>
              <a:spcAft>
                <a:spcPts val="1400"/>
              </a:spcAft>
              <a:buNone/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Los modelos separados por tipo de día evitan que el calendario domine la comparación.</a:t>
            </a:r>
          </a:p>
          <a:p xmlns:a="http://schemas.openxmlformats.org/drawingml/2006/main">
            <a:pPr marL="304800" indent="-152400">
              <a:lnSpc>
                <a:spcPct val="116000"/>
              </a:lnSpc>
              <a:spcAft>
                <a:spcPts val="1400"/>
              </a:spcAft>
              <a:buNone/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FPCA y clustering ordenan patrones; MaxVol aporta casos reales para interpretarlos.</a:t>
            </a:r>
          </a:p>
          <a:p xmlns:a="http://schemas.openxmlformats.org/drawingml/2006/main">
            <a:pPr marL="304800" indent="-152400">
              <a:lnSpc>
                <a:spcPct val="116000"/>
              </a:lnSpc>
              <a:spcAft>
                <a:spcPts val="1400"/>
              </a:spcAft>
              <a:buNone/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Las vistas coordinadas conectan geografía, evolución y perfiles mediante la selección de estaciones.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D738F-8F95-4982-8465-452DAB5E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990600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DC73F-532B-44EB-9A7E-7A96427C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2D9CC-220D-42E3-93E1-06E89CF4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76825"/>
            <a:ext cx="9448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Límites: el análisis es descriptivo; 2020–2021 y 2026 requieren contexto; la demanda observada no equivale a capacidad ni explica causas.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02000-9270-4D05-876A-A7FE4ABC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53125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 contribución principal es una lectura reproducible del pulso de la red.</a:t>
            </a:r>
          </a:p>
        </p:txBody>
      </p:sp>
    </p:spTree>
    <p:extLst>
      <p:ext uri="{BB962C8B-B14F-4D97-AF65-F5344CB8AC3E}">
        <p14:creationId xmlns:p14="http://schemas.microsoft.com/office/powerpoint/2010/main" val="604947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2026-10-10T13:45:32.1250000Z</dcterms:created>
  <dcterms:modified xsi:type="dcterms:W3CDTF">2026-10-10T13:45:32.1250000Z</dcterms:modified>
</coreProperties>
</file>